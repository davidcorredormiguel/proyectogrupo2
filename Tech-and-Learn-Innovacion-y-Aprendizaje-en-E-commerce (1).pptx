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67" r:id="rId4"/>
    <p:sldId id="262" r:id="rId5"/>
    <p:sldId id="268" r:id="rId6"/>
    <p:sldId id="293" r:id="rId7"/>
    <p:sldId id="263" r:id="rId8"/>
    <p:sldId id="266" r:id="rId9"/>
    <p:sldId id="264" r:id="rId10"/>
    <p:sldId id="265" r:id="rId11"/>
    <p:sldId id="271" r:id="rId12"/>
    <p:sldId id="288" r:id="rId13"/>
    <p:sldId id="287" r:id="rId14"/>
  </p:sldIdLst>
  <p:sldSz cx="14630400" cy="8229600"/>
  <p:notesSz cx="8229600" cy="14630400"/>
  <p:embeddedFontLst>
    <p:embeddedFont>
      <p:font typeface="Noto Sans TC" panose="020B0604020202020204" charset="-128"/>
      <p:regular r:id="rId16"/>
    </p:embeddedFont>
    <p:embeddedFont>
      <p:font typeface="Corbel" panose="020B0503020204020204" pitchFamily="34" charset="0"/>
      <p:regular r:id="rId17"/>
      <p:bold r:id="rId18"/>
      <p:italic r:id="rId19"/>
      <p:boldItalic r:id="rId20"/>
    </p:embeddedFont>
    <p:embeddedFont>
      <p:font typeface="Sora Medium" panose="020B0604020202020204" charset="0"/>
      <p:regular r:id="rId21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ABB6"/>
    <a:srgbClr val="154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9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9658FDC-0273-4DAE-89D4-D3261AF95527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s-ES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D98CC-DC4D-19CE-0576-6F0353BA3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27358-1D5F-96B5-749F-E88371B0B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4BDEC-CA29-44F5-C21C-AF08466F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D94E4-A039-320A-5FA7-82DC65549A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19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royectoreact-01-d72fe.web.app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18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21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jpg"/><Relationship Id="rId5" Type="http://schemas.openxmlformats.org/officeDocument/2006/relationships/image" Target="../media/image19.png"/><Relationship Id="rId10" Type="http://schemas.openxmlformats.org/officeDocument/2006/relationships/image" Target="../media/image16.jpe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7.png"/><Relationship Id="rId5" Type="http://schemas.openxmlformats.org/officeDocument/2006/relationships/image" Target="../media/image8.png"/><Relationship Id="rId10" Type="http://schemas.openxmlformats.org/officeDocument/2006/relationships/image" Target="../media/image16.jpe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7" Type="http://schemas.openxmlformats.org/officeDocument/2006/relationships/hyperlink" Target="https://github.com/noelianikolatesla?tab=repositori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hyperlink" Target="https://portfolio-noelia.web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web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289" y="205509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800" u="sng" noProof="0" dirty="0" err="1">
                <a:solidFill>
                  <a:srgbClr val="0BABB6"/>
                </a:solidFill>
                <a:latin typeface="+mj-lt"/>
                <a:cs typeface="Sora Medium" pitchFamily="34" charset="-120"/>
              </a:rPr>
              <a:t>Tech</a:t>
            </a:r>
            <a:r>
              <a:rPr lang="es-ES" sz="4800" noProof="0" dirty="0">
                <a:solidFill>
                  <a:srgbClr val="0BABB6"/>
                </a:solidFill>
                <a:latin typeface="+mj-lt"/>
                <a:cs typeface="Sora Medium" pitchFamily="34" charset="-120"/>
              </a:rPr>
              <a:t> </a:t>
            </a:r>
            <a:r>
              <a:rPr lang="es-ES" sz="4800" u="sng" noProof="0" dirty="0">
                <a:solidFill>
                  <a:srgbClr val="154D7F"/>
                </a:solidFill>
                <a:latin typeface="+mj-lt"/>
                <a:cs typeface="Sora Medium" pitchFamily="34" charset="-120"/>
              </a:rPr>
              <a:t>&amp;</a:t>
            </a:r>
            <a:r>
              <a:rPr lang="es-ES" sz="4800" noProof="0" dirty="0">
                <a:solidFill>
                  <a:srgbClr val="0BABB6"/>
                </a:solidFill>
                <a:latin typeface="+mj-lt"/>
                <a:cs typeface="Sora Medium" pitchFamily="34" charset="-120"/>
              </a:rPr>
              <a:t> </a:t>
            </a:r>
            <a:r>
              <a:rPr lang="es-ES" sz="4800" u="sng" noProof="0" dirty="0">
                <a:solidFill>
                  <a:srgbClr val="FFC000"/>
                </a:solidFill>
                <a:latin typeface="+mj-lt"/>
                <a:cs typeface="Sora Medium" pitchFamily="34" charset="-120"/>
              </a:rPr>
              <a:t>Learn</a:t>
            </a:r>
            <a:r>
              <a:rPr lang="es-ES" sz="4800" b="1" noProof="0" dirty="0">
                <a:solidFill>
                  <a:schemeClr val="bg1"/>
                </a:solidFill>
                <a:latin typeface="+mj-lt"/>
                <a:ea typeface="Sora Medium" pitchFamily="34" charset="-122"/>
                <a:cs typeface="Sora Medium" pitchFamily="34" charset="-120"/>
              </a:rPr>
              <a:t>: </a:t>
            </a:r>
            <a:r>
              <a:rPr lang="es-ES" sz="4800" b="1" u="sng" noProof="0" dirty="0">
                <a:solidFill>
                  <a:schemeClr val="bg1"/>
                </a:solidFill>
                <a:latin typeface="+mj-lt"/>
                <a:ea typeface="Sora Medium" pitchFamily="34" charset="-122"/>
                <a:cs typeface="Sora Medium" pitchFamily="34" charset="-120"/>
              </a:rPr>
              <a:t>Innovación y Aprendizaje en E-commerce</a:t>
            </a:r>
            <a:endParaRPr lang="es-ES" sz="4800" b="1" u="sng" noProof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8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73172" y="2687744"/>
            <a:ext cx="5263376" cy="1860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b="1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Desarrollo Front-End React</a:t>
            </a: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82" y="4216998"/>
            <a:ext cx="4069142" cy="3807093"/>
          </a:xfrm>
          <a:prstGeom prst="rect">
            <a:avLst/>
          </a:prstGeom>
        </p:spPr>
      </p:pic>
      <p:pic>
        <p:nvPicPr>
          <p:cNvPr id="16" name="Imagen 15" descr="Texto&#10;&#10;El contenido generado por IA puede ser incorrecto.">
            <a:extLst>
              <a:ext uri="{FF2B5EF4-FFF2-40B4-BE49-F238E27FC236}">
                <a16:creationId xmlns:a16="http://schemas.microsoft.com/office/drawing/2014/main" id="{543772AF-A6CB-23F5-5B10-93E935D57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565" y="3927772"/>
            <a:ext cx="6561836" cy="4301828"/>
          </a:xfrm>
          <a:prstGeom prst="rect">
            <a:avLst/>
          </a:prstGeom>
        </p:spPr>
      </p:pic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76EAE348-3DDD-EE8A-0A6E-D994A4078D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5227" y="528503"/>
            <a:ext cx="4888627" cy="4888627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BF1D6BA5-4657-F9E8-E6DF-492A58022B4A}"/>
              </a:ext>
            </a:extLst>
          </p:cNvPr>
          <p:cNvSpPr/>
          <p:nvPr/>
        </p:nvSpPr>
        <p:spPr>
          <a:xfrm>
            <a:off x="8101876" y="1822141"/>
            <a:ext cx="6297234" cy="1828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800" noProof="0" dirty="0">
                <a:solidFill>
                  <a:srgbClr val="FF0000"/>
                </a:solidFill>
              </a:rPr>
              <a:t>App: </a:t>
            </a:r>
          </a:p>
          <a:p>
            <a:pPr algn="ctr"/>
            <a:r>
              <a:rPr lang="es-ES" sz="2800" noProof="0" dirty="0">
                <a:solidFill>
                  <a:srgbClr val="FF0000"/>
                </a:solidFill>
                <a:hlinkClick r:id="rId6"/>
              </a:rPr>
              <a:t>https://proyectoreact-01-d72fe.web.app/</a:t>
            </a:r>
            <a:r>
              <a:rPr lang="es-ES" sz="2800" noProof="0" dirty="0">
                <a:solidFill>
                  <a:srgbClr val="FF000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 flipH="1">
            <a:off x="7326627" y="1034078"/>
            <a:ext cx="45719" cy="6752418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Shape 4"/>
          <p:cNvSpPr/>
          <p:nvPr/>
        </p:nvSpPr>
        <p:spPr>
          <a:xfrm>
            <a:off x="6952297" y="149427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390060" y="1363897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Stack Técnico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00" y="1983677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63865" y="1853304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7020341" y="310348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40513" y="2973110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303772" y="4559583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52437" y="4429210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52437" y="479973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19" name="Text 13"/>
          <p:cNvSpPr/>
          <p:nvPr/>
        </p:nvSpPr>
        <p:spPr>
          <a:xfrm>
            <a:off x="8052437" y="51116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Login (Iniciar Sesión), Registro y Recordar Pass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0" name="Text 14"/>
          <p:cNvSpPr/>
          <p:nvPr/>
        </p:nvSpPr>
        <p:spPr>
          <a:xfrm>
            <a:off x="8052437" y="5423620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8052437" y="573556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</a:rPr>
              <a:t>Productos Favoritos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2" name="Text 16"/>
          <p:cNvSpPr/>
          <p:nvPr/>
        </p:nvSpPr>
        <p:spPr>
          <a:xfrm>
            <a:off x="8052437" y="604750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7009444" y="392531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24236" y="3794936"/>
            <a:ext cx="6299446" cy="319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52437" y="637387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52436" y="66882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/>
              </a:rPr>
              <a:t>Sobre Nosotros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2C9CF320-F210-B603-460F-C638DDF9A3CC}"/>
              </a:ext>
            </a:extLst>
          </p:cNvPr>
          <p:cNvSpPr/>
          <p:nvPr/>
        </p:nvSpPr>
        <p:spPr>
          <a:xfrm>
            <a:off x="7315200" y="265119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0FBEE309-08D1-E0CA-D804-C98F9F115E5E}"/>
              </a:ext>
            </a:extLst>
          </p:cNvPr>
          <p:cNvSpPr/>
          <p:nvPr/>
        </p:nvSpPr>
        <p:spPr>
          <a:xfrm>
            <a:off x="8063865" y="252082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</a:p>
        </p:txBody>
      </p:sp>
      <p:sp>
        <p:nvSpPr>
          <p:cNvPr id="29" name="Shape 17">
            <a:extLst>
              <a:ext uri="{FF2B5EF4-FFF2-40B4-BE49-F238E27FC236}">
                <a16:creationId xmlns:a16="http://schemas.microsoft.com/office/drawing/2014/main" id="{B7623FB3-A9B8-CE9A-F5C1-8B94491FA4B3}"/>
              </a:ext>
            </a:extLst>
          </p:cNvPr>
          <p:cNvSpPr/>
          <p:nvPr/>
        </p:nvSpPr>
        <p:spPr>
          <a:xfrm>
            <a:off x="6940869" y="74000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1D209359-4C7C-19B9-DC91-C48C418FD921}"/>
              </a:ext>
            </a:extLst>
          </p:cNvPr>
          <p:cNvSpPr/>
          <p:nvPr/>
        </p:nvSpPr>
        <p:spPr>
          <a:xfrm>
            <a:off x="827843" y="7269722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Agradecimientos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D7C60432-2654-B5A6-EBA2-05B5527F6D96}"/>
              </a:ext>
            </a:extLst>
          </p:cNvPr>
          <p:cNvSpPr/>
          <p:nvPr/>
        </p:nvSpPr>
        <p:spPr>
          <a:xfrm>
            <a:off x="324236" y="351664"/>
            <a:ext cx="1402646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u="sng" noProof="0" dirty="0">
                <a:solidFill>
                  <a:srgbClr val="0BABB6"/>
                </a:solidFill>
              </a:rPr>
              <a:t>Índice</a:t>
            </a:r>
            <a:endParaRPr lang="es-ES" sz="3550" b="1" u="sng" noProof="0" dirty="0">
              <a:solidFill>
                <a:srgbClr val="0BABB6"/>
              </a:solidFill>
            </a:endParaRPr>
          </a:p>
        </p:txBody>
      </p:sp>
      <p:sp>
        <p:nvSpPr>
          <p:cNvPr id="3" name="Shape 17">
            <a:extLst>
              <a:ext uri="{FF2B5EF4-FFF2-40B4-BE49-F238E27FC236}">
                <a16:creationId xmlns:a16="http://schemas.microsoft.com/office/drawing/2014/main" id="{AE427331-2684-D4B0-5CE8-4FD31B794DBD}"/>
              </a:ext>
            </a:extLst>
          </p:cNvPr>
          <p:cNvSpPr/>
          <p:nvPr/>
        </p:nvSpPr>
        <p:spPr>
          <a:xfrm>
            <a:off x="6952297" y="70396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4" name="Text 18">
            <a:extLst>
              <a:ext uri="{FF2B5EF4-FFF2-40B4-BE49-F238E27FC236}">
                <a16:creationId xmlns:a16="http://schemas.microsoft.com/office/drawing/2014/main" id="{6C558130-A90B-51DD-6A06-B7DF37BBE05E}"/>
              </a:ext>
            </a:extLst>
          </p:cNvPr>
          <p:cNvSpPr/>
          <p:nvPr/>
        </p:nvSpPr>
        <p:spPr>
          <a:xfrm>
            <a:off x="839271" y="6909316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Retos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BEBFDF14-86ED-D3A7-B972-B39A70054E57}"/>
              </a:ext>
            </a:extLst>
          </p:cNvPr>
          <p:cNvSpPr/>
          <p:nvPr/>
        </p:nvSpPr>
        <p:spPr>
          <a:xfrm>
            <a:off x="7303771" y="34375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53773EF4-095B-7A2D-1889-C8830599F47A}"/>
              </a:ext>
            </a:extLst>
          </p:cNvPr>
          <p:cNvSpPr/>
          <p:nvPr/>
        </p:nvSpPr>
        <p:spPr>
          <a:xfrm>
            <a:off x="8052436" y="3307216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Boceto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7533B5BE-D57B-DF58-6C9B-4441E1C157CD}"/>
              </a:ext>
            </a:extLst>
          </p:cNvPr>
          <p:cNvSpPr/>
          <p:nvPr/>
        </p:nvSpPr>
        <p:spPr>
          <a:xfrm>
            <a:off x="8063865" y="700021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/>
              </a:rPr>
              <a:t>Chatbot IA</a:t>
            </a:r>
            <a:endParaRPr lang="es-ES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89" y="404000"/>
            <a:ext cx="1279522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noProof="0" dirty="0">
                <a:solidFill>
                  <a:srgbClr val="0BABB6"/>
                </a:solidFill>
              </a:rPr>
              <a:t>Stack Técnico</a:t>
            </a:r>
          </a:p>
        </p:txBody>
      </p:sp>
      <p:sp>
        <p:nvSpPr>
          <p:cNvPr id="5" name="Text 3"/>
          <p:cNvSpPr/>
          <p:nvPr/>
        </p:nvSpPr>
        <p:spPr>
          <a:xfrm>
            <a:off x="516354" y="1004194"/>
            <a:ext cx="5733839" cy="5130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800" noProof="0" dirty="0"/>
          </a:p>
        </p:txBody>
      </p:sp>
      <p:sp>
        <p:nvSpPr>
          <p:cNvPr id="6" name="Text 4"/>
          <p:cNvSpPr/>
          <p:nvPr/>
        </p:nvSpPr>
        <p:spPr>
          <a:xfrm>
            <a:off x="516354" y="1744047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16354" y="2311023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1013335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638556" y="1480985"/>
            <a:ext cx="7814238" cy="340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Inglés B2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En búsqueda de empleo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2825" y="6420521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5288" y="6420522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3385" y="6165517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488" y="6420522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0789" y="6443581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9964" y="6443581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70976" y="6443580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86616" y="6443580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687" y="1630337"/>
            <a:ext cx="3288007" cy="453518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C882EDF4-09DF-EB00-5D8F-48DEC3C0EF4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38556" y="4764483"/>
            <a:ext cx="4622498" cy="1273532"/>
          </a:xfrm>
          <a:prstGeom prst="rect">
            <a:avLst/>
          </a:prstGeom>
        </p:spPr>
      </p:pic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E4BBC55-045C-D321-4567-E6C0645B68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69374" y="4659062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noProof="0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55787" y="505609"/>
            <a:ext cx="4844552" cy="12824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2800" noProof="0" dirty="0">
                <a:solidFill>
                  <a:srgbClr val="97B8FF"/>
                </a:solidFill>
                <a:cs typeface="Sora Medium" pitchFamily="34" charset="-120"/>
              </a:rPr>
              <a:t>Iker Martínez Velasco</a:t>
            </a:r>
          </a:p>
        </p:txBody>
      </p:sp>
      <p:sp>
        <p:nvSpPr>
          <p:cNvPr id="6" name="Text 4"/>
          <p:cNvSpPr/>
          <p:nvPr/>
        </p:nvSpPr>
        <p:spPr>
          <a:xfrm>
            <a:off x="1088228" y="1696636"/>
            <a:ext cx="1535513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4278261" y="1696636"/>
            <a:ext cx="1467835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560" y="6581977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1358" y="6591653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905" y="6337012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9812" y="6520324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65237" y="6469171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75385" y="112865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6416560" y="1539971"/>
            <a:ext cx="8045154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(Alicante): 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Grado Superior en Desarrollo de Aplicaciones Web (En curso)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noProof="0" dirty="0">
                <a:solidFill>
                  <a:schemeClr val="bg1"/>
                </a:solidFill>
              </a:rPr>
              <a:t>En búsqueda activa de prácticas formativas (DAW) </a:t>
            </a:r>
            <a:endParaRPr lang="es-ES" sz="2400" b="1" noProof="0" dirty="0">
              <a:solidFill>
                <a:schemeClr val="bg1"/>
              </a:solidFill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4881" y="3790265"/>
            <a:ext cx="1779099" cy="1372910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148" y="2482673"/>
            <a:ext cx="5937185" cy="5572146"/>
          </a:xfrm>
          <a:prstGeom prst="rect">
            <a:avLst/>
          </a:prstGeom>
        </p:spPr>
      </p:pic>
      <p:pic>
        <p:nvPicPr>
          <p:cNvPr id="40" name="Imagen 39" descr="Logotipo&#10;&#10;El contenido generado por IA puede ser incorrecto.">
            <a:extLst>
              <a:ext uri="{FF2B5EF4-FFF2-40B4-BE49-F238E27FC236}">
                <a16:creationId xmlns:a16="http://schemas.microsoft.com/office/drawing/2014/main" id="{F05D5BEC-8A3C-4E8D-33BE-CA81875F6B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60749" y="5195639"/>
            <a:ext cx="4622498" cy="1273532"/>
          </a:xfrm>
          <a:prstGeom prst="rect">
            <a:avLst/>
          </a:prstGeom>
        </p:spPr>
      </p:pic>
      <p:pic>
        <p:nvPicPr>
          <p:cNvPr id="49" name="Imagen 4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1DA110E-8C99-E250-6BA2-BB918CEB3D3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73764" y="5246792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38225" y="956328"/>
            <a:ext cx="489120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332843"/>
            <a:ext cx="1394970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Certificado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      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2000" b="1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E834E0B1-5E0E-ECC2-CD8F-21BDAA4A70BA}"/>
              </a:ext>
            </a:extLst>
          </p:cNvPr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noProof="0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AFF6B051-4D5D-CAED-0AF1-A1302517719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40526" y="6205170"/>
            <a:ext cx="4622498" cy="12735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3"/>
          <p:cNvSpPr/>
          <p:nvPr/>
        </p:nvSpPr>
        <p:spPr>
          <a:xfrm>
            <a:off x="235800" y="931500"/>
            <a:ext cx="6659852" cy="10863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200" strike="noStrike" spc="-1" noProof="0" dirty="0">
                <a:solidFill>
                  <a:srgbClr val="0BABB6"/>
                </a:solidFill>
              </a:rPr>
              <a:t>Noelia </a:t>
            </a:r>
            <a:r>
              <a:rPr lang="es-ES" sz="3200" strike="noStrike" spc="-1" noProof="0" dirty="0" err="1">
                <a:solidFill>
                  <a:srgbClr val="0BABB6"/>
                </a:solidFill>
              </a:rPr>
              <a:t>Alafarga</a:t>
            </a:r>
            <a:r>
              <a:rPr lang="es-ES" sz="3200" strike="noStrike" spc="-1" noProof="0" dirty="0">
                <a:solidFill>
                  <a:srgbClr val="0BABB6"/>
                </a:solidFill>
              </a:rPr>
              <a:t> </a:t>
            </a:r>
            <a:r>
              <a:rPr lang="es-ES" sz="3200" strike="noStrike" spc="-1" noProof="0" dirty="0" err="1">
                <a:solidFill>
                  <a:srgbClr val="0BABB6"/>
                </a:solidFill>
              </a:rPr>
              <a:t>Payá</a:t>
            </a:r>
            <a:endParaRPr lang="es-ES" sz="3200" strike="noStrike" spc="-1" noProof="0" dirty="0">
              <a:solidFill>
                <a:srgbClr val="0BABB6"/>
              </a:solidFill>
            </a:endParaRPr>
          </a:p>
          <a:p>
            <a:pPr algn="ctr" defTabSz="914400">
              <a:lnSpc>
                <a:spcPct val="100000"/>
              </a:lnSpc>
            </a:pPr>
            <a:r>
              <a:rPr lang="es-ES" sz="2000" strike="noStrike" spc="-1" noProof="0" dirty="0">
                <a:solidFill>
                  <a:srgbClr val="0BABB6"/>
                </a:solidFill>
                <a:ea typeface="Calibri"/>
              </a:rPr>
              <a:t>IA · Machine </a:t>
            </a:r>
            <a:r>
              <a:rPr lang="es-ES" sz="2000" strike="noStrike" spc="-1" noProof="0" dirty="0" err="1">
                <a:solidFill>
                  <a:srgbClr val="0BABB6"/>
                </a:solidFill>
                <a:ea typeface="Calibri"/>
              </a:rPr>
              <a:t>Learning</a:t>
            </a:r>
            <a:r>
              <a:rPr lang="es-ES" sz="2000" strike="noStrike" spc="-1" noProof="0" dirty="0">
                <a:solidFill>
                  <a:srgbClr val="0BABB6"/>
                </a:solidFill>
                <a:ea typeface="Calibri"/>
              </a:rPr>
              <a:t> · Big Data </a:t>
            </a:r>
            <a:r>
              <a:rPr lang="es-ES" sz="2000" strike="noStrike" spc="-1" noProof="0" dirty="0" err="1">
                <a:solidFill>
                  <a:srgbClr val="0BABB6"/>
                </a:solidFill>
                <a:ea typeface="Calibri"/>
              </a:rPr>
              <a:t>Analytics</a:t>
            </a:r>
            <a:r>
              <a:rPr lang="es-ES" sz="2000" strike="noStrike" spc="-1" noProof="0" dirty="0">
                <a:solidFill>
                  <a:srgbClr val="0BABB6"/>
                </a:solidFill>
                <a:ea typeface="Calibri"/>
              </a:rPr>
              <a:t> | Full Stack </a:t>
            </a:r>
            <a:r>
              <a:rPr lang="es-ES" sz="2000" strike="noStrike" spc="-1" noProof="0" dirty="0" err="1">
                <a:solidFill>
                  <a:srgbClr val="0BABB6"/>
                </a:solidFill>
                <a:ea typeface="Calibri"/>
              </a:rPr>
              <a:t>Developer</a:t>
            </a:r>
            <a:endParaRPr lang="es-ES" sz="2000" strike="noStrike" spc="-1" noProof="0" dirty="0">
              <a:solidFill>
                <a:srgbClr val="0BABB6"/>
              </a:solidFill>
            </a:endParaRPr>
          </a:p>
        </p:txBody>
      </p:sp>
      <p:sp>
        <p:nvSpPr>
          <p:cNvPr id="12" name="Text 4"/>
          <p:cNvSpPr/>
          <p:nvPr/>
        </p:nvSpPr>
        <p:spPr>
          <a:xfrm>
            <a:off x="799199" y="2031004"/>
            <a:ext cx="231624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 noProof="0" dirty="0">
                <a:solidFill>
                  <a:srgbClr val="97B8FF"/>
                </a:solidFill>
                <a:uFillTx/>
                <a:ea typeface="Noto Sans TC"/>
                <a:hlinkClick r:id="rId3"/>
              </a:rPr>
              <a:t>LinkedIn</a:t>
            </a:r>
            <a:endParaRPr lang="es-ES" sz="2400" b="1" strike="noStrike" spc="-1" noProof="0" dirty="0">
              <a:solidFill>
                <a:srgbClr val="FFFFFF"/>
              </a:solidFill>
            </a:endParaRPr>
          </a:p>
        </p:txBody>
      </p:sp>
      <p:sp>
        <p:nvSpPr>
          <p:cNvPr id="13" name="Text 5"/>
          <p:cNvSpPr/>
          <p:nvPr/>
        </p:nvSpPr>
        <p:spPr>
          <a:xfrm>
            <a:off x="4147559" y="2034964"/>
            <a:ext cx="208440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 noProof="0" dirty="0">
                <a:solidFill>
                  <a:srgbClr val="97B8FF"/>
                </a:solidFill>
                <a:uFillTx/>
                <a:ea typeface="Noto Sans TC"/>
                <a:hlinkClick r:id="rId4"/>
              </a:rPr>
              <a:t>Portfolio</a:t>
            </a:r>
            <a:endParaRPr lang="es-ES" sz="2400" b="1" strike="noStrike" spc="-1" noProof="0" dirty="0">
              <a:solidFill>
                <a:srgbClr val="FFFFFF"/>
              </a:solidFill>
            </a:endParaRPr>
          </a:p>
        </p:txBody>
      </p:sp>
      <p:sp>
        <p:nvSpPr>
          <p:cNvPr id="14" name="Text 6"/>
          <p:cNvSpPr/>
          <p:nvPr/>
        </p:nvSpPr>
        <p:spPr>
          <a:xfrm>
            <a:off x="8607960" y="1300680"/>
            <a:ext cx="34020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650" b="0" strike="noStrike" spc="-1" noProof="0" dirty="0">
                <a:solidFill>
                  <a:srgbClr val="97B8FF"/>
                </a:solidFill>
                <a:ea typeface="Sora Medium"/>
              </a:rPr>
              <a:t>Estudios</a:t>
            </a:r>
            <a:endParaRPr lang="es-ES" sz="2650" b="0" strike="noStrike" spc="-1" noProof="0" dirty="0">
              <a:solidFill>
                <a:srgbClr val="FFFFFF"/>
              </a:solidFill>
            </a:endParaRPr>
          </a:p>
        </p:txBody>
      </p:sp>
      <p:sp>
        <p:nvSpPr>
          <p:cNvPr id="15" name="Text 7"/>
          <p:cNvSpPr/>
          <p:nvPr/>
        </p:nvSpPr>
        <p:spPr>
          <a:xfrm>
            <a:off x="6895652" y="1416600"/>
            <a:ext cx="7498948" cy="243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1" strike="noStrike" spc="-1" noProof="0" dirty="0">
                <a:solidFill>
                  <a:schemeClr val="bg1"/>
                </a:solidFill>
                <a:ea typeface="Noto Sans TC"/>
              </a:rPr>
              <a:t>Fundación Adecco (Madrid): </a:t>
            </a:r>
            <a:r>
              <a:rPr lang="es-ES" sz="2000" b="0" strike="noStrike" spc="-1" noProof="0" dirty="0">
                <a:solidFill>
                  <a:schemeClr val="bg1"/>
                </a:solidFill>
                <a:ea typeface="Noto Sans TC"/>
              </a:rPr>
              <a:t>Curso de React (2025 - 2026)</a:t>
            </a:r>
            <a:endParaRPr lang="es-ES" sz="2000" b="0" strike="noStrike" spc="-1" noProof="0" dirty="0">
              <a:solidFill>
                <a:schemeClr val="bg1"/>
              </a:solidFill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0" strike="noStrike" spc="-1" noProof="0" dirty="0">
                <a:solidFill>
                  <a:schemeClr val="bg1"/>
                </a:solidFill>
                <a:ea typeface="Noto Sans TC"/>
              </a:rPr>
              <a:t>Especialización en Inteligencia Artificial y Big Data (2025 – actualidad)</a:t>
            </a:r>
            <a:endParaRPr lang="es-ES" sz="2000" b="0" strike="noStrike" spc="-1" noProof="0" dirty="0">
              <a:solidFill>
                <a:schemeClr val="bg1"/>
              </a:solidFill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0" strike="noStrike" spc="-1" noProof="0" dirty="0">
                <a:solidFill>
                  <a:schemeClr val="bg1"/>
                </a:solidFill>
                <a:ea typeface="Noto Sans TC"/>
              </a:rPr>
              <a:t>Grado Superior en Desarrollo de Aplicaciones Web (2023 – 2025)</a:t>
            </a:r>
            <a:endParaRPr lang="es-ES" sz="2000" b="0" strike="noStrike" spc="-1" noProof="0" dirty="0">
              <a:solidFill>
                <a:schemeClr val="bg1"/>
              </a:solidFill>
            </a:endParaRPr>
          </a:p>
        </p:txBody>
      </p:sp>
      <p:pic>
        <p:nvPicPr>
          <p:cNvPr id="16" name="Imagen 18"/>
          <p:cNvPicPr/>
          <p:nvPr/>
        </p:nvPicPr>
        <p:blipFill>
          <a:blip r:embed="rId5"/>
          <a:stretch/>
        </p:blipFill>
        <p:spPr>
          <a:xfrm>
            <a:off x="6895652" y="3847680"/>
            <a:ext cx="7657200" cy="4381920"/>
          </a:xfrm>
          <a:prstGeom prst="rect">
            <a:avLst/>
          </a:prstGeom>
          <a:ln w="0">
            <a:noFill/>
          </a:ln>
        </p:spPr>
      </p:pic>
      <p:pic>
        <p:nvPicPr>
          <p:cNvPr id="17" name="Imagen 20"/>
          <p:cNvPicPr/>
          <p:nvPr/>
        </p:nvPicPr>
        <p:blipFill>
          <a:blip r:embed="rId6"/>
          <a:srcRect b="12889"/>
          <a:stretch/>
        </p:blipFill>
        <p:spPr>
          <a:xfrm>
            <a:off x="995632" y="2754476"/>
            <a:ext cx="4673647" cy="5331367"/>
          </a:xfrm>
          <a:prstGeom prst="rect">
            <a:avLst/>
          </a:prstGeom>
          <a:ln w="0">
            <a:noFill/>
          </a:ln>
          <a:effectLst>
            <a:softEdge rad="112680"/>
          </a:effectLst>
        </p:spPr>
      </p:pic>
      <p:sp>
        <p:nvSpPr>
          <p:cNvPr id="18" name="Text 2"/>
          <p:cNvSpPr/>
          <p:nvPr/>
        </p:nvSpPr>
        <p:spPr>
          <a:xfrm>
            <a:off x="799199" y="351720"/>
            <a:ext cx="13185741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600" b="0" strike="noStrike" spc="-1" noProof="0" dirty="0">
                <a:solidFill>
                  <a:srgbClr val="0BABB6"/>
                </a:solidFill>
              </a:rPr>
              <a:t>Stack Técnico</a:t>
            </a:r>
            <a:endParaRPr lang="es-ES" sz="3600" b="0" strike="noStrike" spc="-1" noProof="0" dirty="0">
              <a:solidFill>
                <a:srgbClr val="FFFFFF"/>
              </a:solidFill>
            </a:endParaRPr>
          </a:p>
        </p:txBody>
      </p:sp>
      <p:sp>
        <p:nvSpPr>
          <p:cNvPr id="19" name="Text 5"/>
          <p:cNvSpPr/>
          <p:nvPr/>
        </p:nvSpPr>
        <p:spPr>
          <a:xfrm>
            <a:off x="2602439" y="2034964"/>
            <a:ext cx="165960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 noProof="0" dirty="0">
                <a:solidFill>
                  <a:srgbClr val="97B8FF"/>
                </a:solidFill>
                <a:uFillTx/>
                <a:ea typeface="Noto Sans TC"/>
                <a:hlinkClick r:id="rId7"/>
              </a:rPr>
              <a:t>GitHub</a:t>
            </a:r>
            <a:endParaRPr lang="es-ES" sz="2400" b="1" strike="noStrike" spc="-1" noProof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5761" y="387275"/>
            <a:ext cx="13158878" cy="12263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4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800" noProof="0" dirty="0"/>
          </a:p>
        </p:txBody>
      </p:sp>
      <p:sp>
        <p:nvSpPr>
          <p:cNvPr id="5" name="Text 3"/>
          <p:cNvSpPr/>
          <p:nvPr/>
        </p:nvSpPr>
        <p:spPr>
          <a:xfrm>
            <a:off x="336151" y="1818042"/>
            <a:ext cx="9700734" cy="572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400" noProof="0" dirty="0" err="1">
                <a:solidFill>
                  <a:srgbClr val="0BABB6"/>
                </a:solidFill>
                <a:cs typeface="Sora Medium" pitchFamily="34" charset="-120"/>
              </a:rPr>
              <a:t>Tech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154D7F"/>
                </a:solidFill>
                <a:cs typeface="Sora Medium" pitchFamily="34" charset="-120"/>
              </a:rPr>
              <a:t>&amp;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FFC000"/>
                </a:solidFill>
                <a:cs typeface="Sora Medium" pitchFamily="34" charset="-120"/>
              </a:rPr>
              <a:t>Learn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es una plataforma de e-commerce desarrollada en React. </a:t>
            </a:r>
          </a:p>
          <a:p>
            <a:endParaRPr lang="es-ES" sz="4400" noProof="0" dirty="0">
              <a:solidFill>
                <a:srgbClr val="E0D6DE"/>
              </a:solidFill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4400" noProof="0" dirty="0">
              <a:solidFill>
                <a:srgbClr val="E0D6DE"/>
              </a:solidFill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Chatbot con IA.</a:t>
            </a:r>
          </a:p>
          <a:p>
            <a:endParaRPr lang="es-ES" sz="4400" noProof="0" dirty="0"/>
          </a:p>
          <a:p>
            <a:pPr marL="0" indent="0" algn="l">
              <a:buNone/>
            </a:pPr>
            <a:endParaRPr lang="es-ES" sz="44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5056" y="2093621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 de Tiendas Online: MediaMarkt y Amazon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52727" y="6714915"/>
            <a:ext cx="7026508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017549" y="1624229"/>
            <a:ext cx="5956635" cy="374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Diseño de Tienda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017549" y="2245302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Búsqueda y Filtro de Productos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3" name="Text 11">
            <a:extLst>
              <a:ext uri="{FF2B5EF4-FFF2-40B4-BE49-F238E27FC236}">
                <a16:creationId xmlns:a16="http://schemas.microsoft.com/office/drawing/2014/main" id="{DC5501BD-B8A6-3C36-85EE-BF34EB0AC0B8}"/>
              </a:ext>
            </a:extLst>
          </p:cNvPr>
          <p:cNvSpPr/>
          <p:nvPr/>
        </p:nvSpPr>
        <p:spPr>
          <a:xfrm>
            <a:off x="352727" y="4835463"/>
            <a:ext cx="6478379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07227-9F30-63CA-5FE9-9663F2A5170C}"/>
              </a:ext>
            </a:extLst>
          </p:cNvPr>
          <p:cNvSpPr/>
          <p:nvPr/>
        </p:nvSpPr>
        <p:spPr>
          <a:xfrm>
            <a:off x="352728" y="1669207"/>
            <a:ext cx="6144892" cy="244559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E07A404-6137-C0FF-B326-33BF26CDB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120" y="2149884"/>
            <a:ext cx="5430894" cy="1641997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CD5AFA5D-7DF3-F27C-2C5A-2AD8806D4D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91237" y="4408995"/>
            <a:ext cx="8572500" cy="2857500"/>
          </a:xfrm>
          <a:prstGeom prst="rect">
            <a:avLst/>
          </a:prstGeom>
        </p:spPr>
      </p:pic>
      <p:sp>
        <p:nvSpPr>
          <p:cNvPr id="10" name="Text 11">
            <a:extLst>
              <a:ext uri="{FF2B5EF4-FFF2-40B4-BE49-F238E27FC236}">
                <a16:creationId xmlns:a16="http://schemas.microsoft.com/office/drawing/2014/main" id="{55450532-B4F7-44EB-769F-B65F3593D8E9}"/>
              </a:ext>
            </a:extLst>
          </p:cNvPr>
          <p:cNvSpPr/>
          <p:nvPr/>
        </p:nvSpPr>
        <p:spPr>
          <a:xfrm>
            <a:off x="8017549" y="2805219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Favoritos/Mi Lista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D9E32F61-42AC-9F56-0F45-6C168803CD40}"/>
              </a:ext>
            </a:extLst>
          </p:cNvPr>
          <p:cNvSpPr/>
          <p:nvPr/>
        </p:nvSpPr>
        <p:spPr>
          <a:xfrm>
            <a:off x="8017549" y="333753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Login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8B39385B-4019-32E6-6496-8BC885B959C9}"/>
              </a:ext>
            </a:extLst>
          </p:cNvPr>
          <p:cNvSpPr/>
          <p:nvPr/>
        </p:nvSpPr>
        <p:spPr>
          <a:xfrm>
            <a:off x="8017549" y="3716669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Cesta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65760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6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9721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Amplio catálogo de productos con filtro avanzado.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sz="2000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Visualización de productos más vistos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Sugerencias de productos relacionados en sus detalles.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Sistema de paginación eficiente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Visualización de productos en cuadricula o lista.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Diseño responsivo para cualquier dispositivo.</a:t>
            </a:r>
          </a:p>
        </p:txBody>
      </p:sp>
      <p:sp>
        <p:nvSpPr>
          <p:cNvPr id="11" name="Text 9"/>
          <p:cNvSpPr/>
          <p:nvPr/>
        </p:nvSpPr>
        <p:spPr>
          <a:xfrm>
            <a:off x="7840006" y="4461603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7840007" y="5289044"/>
            <a:ext cx="6715090" cy="87820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264527" y="5639074"/>
            <a:ext cx="2106118" cy="44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Front-end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9569893" y="5688395"/>
            <a:ext cx="4178338" cy="391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40006" y="6421645"/>
            <a:ext cx="6715089" cy="824529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264526" y="6744947"/>
            <a:ext cx="2106117" cy="413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Backend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9535656" y="6727820"/>
            <a:ext cx="4771970" cy="4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Firebase, Render, Node.js y Express 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840007" y="7417907"/>
            <a:ext cx="6715089" cy="74329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b="1" u="sng" noProof="0" dirty="0"/>
          </a:p>
        </p:txBody>
      </p:sp>
      <p:sp>
        <p:nvSpPr>
          <p:cNvPr id="19" name="Text 17"/>
          <p:cNvSpPr/>
          <p:nvPr/>
        </p:nvSpPr>
        <p:spPr>
          <a:xfrm>
            <a:off x="8264527" y="7679876"/>
            <a:ext cx="210611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IA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8887345" y="7661181"/>
            <a:ext cx="517285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Bedrock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Integración de Chatbot IA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Opciones de tema claro/oscuro personalizables.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Tarjetas de Aprender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sz="2000" noProof="0" dirty="0">
              <a:solidFill>
                <a:schemeClr val="bg1"/>
              </a:solidFill>
            </a:endParaRPr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705671"/>
            <a:ext cx="3399416" cy="3399416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81FF67AE-3FCB-A306-AB31-D5E44F2A0A22}"/>
              </a:ext>
            </a:extLst>
          </p:cNvPr>
          <p:cNvSpPr/>
          <p:nvPr/>
        </p:nvSpPr>
        <p:spPr>
          <a:xfrm>
            <a:off x="7439138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noProof="0" dirty="0">
                <a:solidFill>
                  <a:srgbClr val="97B8FF"/>
                </a:solidFill>
                <a:cs typeface="Sora Medium" pitchFamily="34" charset="-120"/>
              </a:rPr>
              <a:t>Añadidos</a:t>
            </a:r>
            <a:endParaRPr lang="es-ES" sz="36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225911" y="3219828"/>
            <a:ext cx="233844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445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0BABB6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403D50-66F8-D6E6-30A7-9189BE3F5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4354" y="1"/>
            <a:ext cx="12066045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614824" y="630370"/>
            <a:ext cx="7637502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Mostrar respuestas en tiempo real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>
              <a:solidFill>
                <a:schemeClr val="bg1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chemeClr val="bg1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)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F0FB2-F5E5-FE58-E27A-041D3C81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97E65A-B2FB-E7DA-72C1-F59165D1B8CD}"/>
              </a:ext>
            </a:extLst>
          </p:cNvPr>
          <p:cNvSpPr/>
          <p:nvPr/>
        </p:nvSpPr>
        <p:spPr>
          <a:xfrm>
            <a:off x="270989" y="598097"/>
            <a:ext cx="13584860" cy="1413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cs typeface="Sora Medium"/>
              </a:rPr>
              <a:t>Retos Encontrados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6EA7ED-D270-69AF-3455-94C865FE50F8}"/>
              </a:ext>
            </a:extLst>
          </p:cNvPr>
          <p:cNvSpPr/>
          <p:nvPr/>
        </p:nvSpPr>
        <p:spPr>
          <a:xfrm>
            <a:off x="270989" y="2276107"/>
            <a:ext cx="11142876" cy="5467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David: </a:t>
            </a:r>
            <a:r>
              <a:rPr lang="es-ES" sz="3600" noProof="0" dirty="0">
                <a:solidFill>
                  <a:schemeClr val="bg1"/>
                </a:solidFill>
                <a:ea typeface="+mn-lt"/>
                <a:cs typeface="+mn-lt"/>
              </a:rPr>
              <a:t>Ajustes en la lógica de cesta y favoritos para mantener un flujo de compra claro.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Iker: </a:t>
            </a:r>
            <a:r>
              <a:rPr lang="es-ES" sz="3600" noProof="0" dirty="0">
                <a:solidFill>
                  <a:schemeClr val="bg1"/>
                </a:solidFill>
                <a:ea typeface="+mn-lt"/>
                <a:cs typeface="+mn-lt"/>
              </a:rPr>
              <a:t>Errores en la gestión de sesión y persistencia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Ivan: </a:t>
            </a:r>
            <a:r>
              <a:rPr lang="es-ES" sz="3600" noProof="0" dirty="0">
                <a:solidFill>
                  <a:schemeClr val="bg1"/>
                </a:solidFill>
                <a:ea typeface="+mn-lt"/>
                <a:cs typeface="+mn-lt"/>
              </a:rPr>
              <a:t>Integración de tarjetas de aprendizaje sin sobrecargar la interfaz.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Noelia: </a:t>
            </a:r>
            <a:r>
              <a:rPr lang="es-ES" sz="3600" noProof="0" dirty="0">
                <a:solidFill>
                  <a:schemeClr val="bg1"/>
                </a:solidFill>
                <a:ea typeface="+mn-lt"/>
                <a:cs typeface="+mn-lt"/>
              </a:rPr>
              <a:t>Despliegue para peticiones de backend, firebase gratuito no tiene servicio proxy y se ha desplegado en Render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AE45EF2-08A2-9792-71F3-74A89D5D0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63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1281A25-1CA2-CC95-2ED2-ED06FFDEEF3E}"/>
              </a:ext>
            </a:extLst>
          </p:cNvPr>
          <p:cNvSpPr txBox="1"/>
          <p:nvPr/>
        </p:nvSpPr>
        <p:spPr>
          <a:xfrm>
            <a:off x="3949968" y="286731"/>
            <a:ext cx="568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noProof="0" dirty="0">
                <a:solidFill>
                  <a:srgbClr val="0070C0"/>
                </a:solidFill>
              </a:rPr>
              <a:t>Agradecimientos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C5FECF3-D238-801C-3F93-B5F0A452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274" y="4583474"/>
            <a:ext cx="3646126" cy="3646126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1B4157F-3E53-C1DF-2847-FDF487D5C274}"/>
              </a:ext>
            </a:extLst>
          </p:cNvPr>
          <p:cNvSpPr txBox="1"/>
          <p:nvPr/>
        </p:nvSpPr>
        <p:spPr>
          <a:xfrm>
            <a:off x="322729" y="1200262"/>
            <a:ext cx="1397418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noProof="0" dirty="0">
                <a:solidFill>
                  <a:schemeClr val="bg1"/>
                </a:solidFill>
              </a:rPr>
              <a:t>A Alejandra por su implicación y acompañamiento constante durante el proyecto. </a:t>
            </a:r>
          </a:p>
          <a:p>
            <a:pPr>
              <a:buNone/>
            </a:pPr>
            <a:endParaRPr lang="es-ES" sz="3200" noProof="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noProof="0" dirty="0">
                <a:solidFill>
                  <a:schemeClr val="bg1"/>
                </a:solidFill>
              </a:rPr>
              <a:t>A Juanse por sentarnos las bases en fundamentos de programación. </a:t>
            </a:r>
          </a:p>
          <a:p>
            <a:pPr>
              <a:buNone/>
            </a:pPr>
            <a:endParaRPr lang="es-ES" sz="3200" noProof="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noProof="0" dirty="0">
                <a:solidFill>
                  <a:schemeClr val="bg1"/>
                </a:solidFill>
              </a:rPr>
              <a:t>A Javier, nuestro mentor, por su guía práctica y resolver nuestras dudas técnicas. </a:t>
            </a:r>
          </a:p>
          <a:p>
            <a:pPr>
              <a:buNone/>
            </a:pPr>
            <a:endParaRPr lang="es-ES" sz="3200" noProof="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noProof="0" dirty="0">
                <a:solidFill>
                  <a:schemeClr val="bg1"/>
                </a:solidFill>
              </a:rPr>
              <a:t>A Edu por introducirnos en las metodologías ágiles. </a:t>
            </a:r>
          </a:p>
          <a:p>
            <a:pPr>
              <a:buNone/>
            </a:pPr>
            <a:r>
              <a:rPr lang="es-ES" sz="3200" noProof="0" dirty="0">
                <a:solidFill>
                  <a:schemeClr val="bg1"/>
                </a:solidFill>
              </a:rPr>
              <a:t>Y a las coordinadoras por crear un entorno fundamental para nuestro crecimiento.</a:t>
            </a:r>
          </a:p>
        </p:txBody>
      </p:sp>
    </p:spTree>
    <p:extLst>
      <p:ext uri="{BB962C8B-B14F-4D97-AF65-F5344CB8AC3E}">
        <p14:creationId xmlns:p14="http://schemas.microsoft.com/office/powerpoint/2010/main" val="30904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1602</TotalTime>
  <Words>722</Words>
  <Application>Microsoft Office PowerPoint</Application>
  <PresentationFormat>Personalizado</PresentationFormat>
  <Paragraphs>143</Paragraphs>
  <Slides>13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1" baseType="lpstr">
      <vt:lpstr>Sora Medium</vt:lpstr>
      <vt:lpstr>Times New Roman</vt:lpstr>
      <vt:lpstr>Corbel</vt:lpstr>
      <vt:lpstr>Noto Sans TC</vt:lpstr>
      <vt:lpstr>Calibri</vt:lpstr>
      <vt:lpstr>Symbol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486</cp:revision>
  <dcterms:created xsi:type="dcterms:W3CDTF">2026-01-18T22:42:39Z</dcterms:created>
  <dcterms:modified xsi:type="dcterms:W3CDTF">2026-01-28T09:27:38Z</dcterms:modified>
</cp:coreProperties>
</file>