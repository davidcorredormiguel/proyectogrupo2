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6_0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70" r:id="rId24"/>
    <p:sldId id="271" r:id="rId25"/>
    <p:sldId id="272" r:id="rId26"/>
    <p:sldId id="273" r:id="rId27"/>
    <p:sldId id="274" r:id="rId28"/>
    <p:sldId id="287" r:id="rId29"/>
  </p:sldIdLst>
  <p:sldSz cx="14630400" cy="8229600"/>
  <p:notesSz cx="8229600" cy="14630400"/>
  <p:embeddedFontLst>
    <p:embeddedFont>
      <p:font typeface="Noto Sans TC" panose="020B0604020202020204" charset="-128"/>
      <p:regular r:id="rId31"/>
    </p:embeddedFont>
    <p:embeddedFont>
      <p:font typeface="Corbel" panose="020B0503020204020204" pitchFamily="34" charset="0"/>
      <p:regular r:id="rId32"/>
      <p:bold r:id="rId33"/>
      <p:italic r:id="rId34"/>
      <p:boldItalic r:id="rId35"/>
    </p:embeddedFont>
    <p:embeddedFont>
      <p:font typeface="Sora Medium" panose="020B0604020202020204" charset="0"/>
      <p:regular r:id="rId36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7" d="100"/>
          <a:sy n="57" d="100"/>
        </p:scale>
        <p:origin x="7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BE4F5C2-91B9-4C2D-A6EF-65C77388F898}" authorId="{5F3F0CCC-7EF3-2BCE-E966-01205DB42111}" created="2026-01-20T17:16:30.127">
    <pc:sldMkLst xmlns:pc="http://schemas.microsoft.com/office/powerpoint/2013/main/command">
      <pc:docMk/>
      <pc:sldMk cId="0" sldId="262"/>
    </pc:sldMkLst>
    <p188:txBody>
      <a:bodyPr/>
      <a:lstStyle/>
      <a:p>
        <a:r>
          <a:rPr lang="es-ES"/>
          <a:t>Transformando ideas en soluciones mediante desarrollo de software.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EA373-076C-F56D-DA6C-3CDE5B34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EDFAE-E221-2104-B6F2-734B562CF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2BCDB-FA90-CCBC-1E4D-C9A82CE4F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D7FFD-A66B-9D75-3897-6DC2D37CE0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47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0DDE-789F-ACC8-BD87-A4B3DF4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CF5CF-84A5-FB1C-C7A8-E5A566ACA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B6109-9207-876B-13A7-5CE9F225D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8FDC9-A080-58B5-AE3E-E780FA293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229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7D8A-4515-7A1C-E233-49D7B022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18F3EE-B1B1-9D10-FDE1-51D06E351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8A2E-079C-0F9B-AB35-0FC0DD9B3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A8899-3C96-54EF-ECE4-BB660869B7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39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B70AA-31C0-2A74-02DD-E6091AFEE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6888E-7736-D187-F0FB-1B4F3B71E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ED4B8-7A37-7695-8721-D671DF751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AC25F-5A12-3AF1-DF2F-0432D3531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286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635C-FC51-B500-C668-E532B8E4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B6346-5148-8FAF-9FE9-91BA360D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BB4BE-2204-8CBF-9534-B331FC9E4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2142C-9E47-50BA-1AC2-DD20C42A8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258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2CD0-FA2C-CCBE-6C15-6A1F6B93E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2C142-0179-91FC-D424-7E7ACD48B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EE66D-7B6D-E8ED-C39B-950E755D2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411E3-7A3D-7CF5-11DC-E810CCB584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72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DE96-6819-E298-2762-B41C6C01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8B733-4CFD-5243-ADC7-35A0858FE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9978-E9BD-90F0-37E4-A800FD34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FEFD6-8372-AC27-01BF-5721C6925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014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4E3E0-8EDE-3B66-F708-8F3F14433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C25FF-8D48-7977-8049-27BC73210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F24C8-94D9-9CE1-17E0-299760854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3C7BD-B03F-6DA5-F307-6591BC87C7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236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171-BCBB-A14B-F13A-37298716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55C277-DEC6-9659-D4C6-5F1165BB9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368F7-E161-A91F-DA65-0C15B3EC8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408CB-4AED-DD4D-26BB-26F6477844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2990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7261-D6DC-303E-DD20-DC7A3C01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833F4-799B-24C6-FE52-305B5658E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C0CEE7-0482-BB99-0400-01A2F93F2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401E7-7DAF-3C62-A5E3-AAA25B34ED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2045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B9AC8-364E-545A-8B62-466AF858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36761-A636-277B-E55D-D9981BE4D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05F8C-19C2-8289-D114-E8849EB1D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F730E-4248-87C9-C13F-BCBA8D54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220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6.jpeg"/><Relationship Id="rId5" Type="http://schemas.openxmlformats.org/officeDocument/2006/relationships/image" Target="../media/image8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png"/><Relationship Id="rId3" Type="http://schemas.microsoft.com/office/2018/10/relationships/comments" Target="../comments/modernComment_106_0.xml"/><Relationship Id="rId7" Type="http://schemas.openxmlformats.org/officeDocument/2006/relationships/image" Target="../media/image18.png"/><Relationship Id="rId12" Type="http://schemas.openxmlformats.org/officeDocument/2006/relationships/image" Target="../media/image2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16.jpeg"/><Relationship Id="rId5" Type="http://schemas.openxmlformats.org/officeDocument/2006/relationships/hyperlink" Target="https://github.com/moimenta84?tab=repositories" TargetMode="External"/><Relationship Id="rId10" Type="http://schemas.openxmlformats.org/officeDocument/2006/relationships/image" Target="../media/image21.png"/><Relationship Id="rId4" Type="http://schemas.openxmlformats.org/officeDocument/2006/relationships/hyperlink" Target="https://es.linkedin.com/in/iker-martinez-dev/" TargetMode="External"/><Relationship Id="rId9" Type="http://schemas.openxmlformats.org/officeDocument/2006/relationships/image" Target="../media/image20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Innovación y Aprendizaje en E-</a:t>
            </a:r>
            <a:r>
              <a:rPr lang="es-ES" sz="4000" b="1" u="sng" noProof="0" dirty="0" err="1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-3105720" y="3818402"/>
            <a:ext cx="11930854" cy="1438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400" b="1" noProof="0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ctr">
              <a:buNone/>
            </a:pPr>
            <a:endParaRPr lang="es-ES" sz="2400" b="1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ctr">
              <a:buNone/>
            </a:pPr>
            <a:r>
              <a:rPr lang="es-ES" sz="24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Desarrollo Front-End React</a:t>
            </a:r>
          </a:p>
          <a:p>
            <a:pPr marL="0" indent="0" algn="ctr">
              <a:buNone/>
            </a:pPr>
            <a:r>
              <a:rPr lang="es-ES" sz="24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2400" b="1" noProof="0" dirty="0">
              <a:solidFill>
                <a:schemeClr val="bg1"/>
              </a:solidFill>
            </a:endParaRP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26" y="5716545"/>
            <a:ext cx="2466378" cy="2307546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2806" y="4624754"/>
            <a:ext cx="5316304" cy="3485279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0602" y="368157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55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s-ES" sz="3550" b="1" u="sng" noProof="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sz="1400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sz="1400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sz="1400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sz="1400" b="1" noProof="0" dirty="0" err="1">
                <a:solidFill>
                  <a:srgbClr val="E0D6DE"/>
                </a:solidFill>
                <a:latin typeface="Noto Sans TC"/>
                <a:ea typeface="Noto Sans TC"/>
              </a:rPr>
              <a:t>Chatbot</a:t>
            </a:r>
            <a:r>
              <a:rPr lang="es-ES" sz="1400" b="1" noProof="0" dirty="0">
                <a:solidFill>
                  <a:srgbClr val="E0D6DE"/>
                </a:solidFill>
                <a:latin typeface="Noto Sans TC"/>
                <a:ea typeface="Noto Sans TC"/>
              </a:rPr>
              <a:t> IA</a:t>
            </a:r>
            <a:endParaRPr lang="es-ES" sz="1400" b="1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700" y="5344148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341" y="5344148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6873" y="5079065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52622" y="5344149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1284" y="6432856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0459" y="6432856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11471" y="6432855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27111" y="6432855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0646" y="3201947"/>
            <a:ext cx="2839738" cy="391687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38224" y="472559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638224" y="160651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8410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3" y="231164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(cambiar enlace)</a:t>
            </a:r>
            <a:endParaRPr lang="es-ES" sz="175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ángulo 44">
            <a:extLst>
              <a:ext uri="{FF2B5EF4-FFF2-40B4-BE49-F238E27FC236}">
                <a16:creationId xmlns:a16="http://schemas.microsoft.com/office/drawing/2014/main" id="{51367315-C5E3-0C64-4B02-B6AB499F8ECE}"/>
              </a:ext>
            </a:extLst>
          </p:cNvPr>
          <p:cNvSpPr/>
          <p:nvPr/>
        </p:nvSpPr>
        <p:spPr>
          <a:xfrm>
            <a:off x="491066" y="242632"/>
            <a:ext cx="4705575" cy="8982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99259" y="351664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600" dirty="0">
                <a:solidFill>
                  <a:srgbClr val="0BABB6"/>
                </a:solidFill>
              </a:rPr>
              <a:t>Stack Tecnológico</a:t>
            </a:r>
            <a:endParaRPr lang="es-ES" sz="3550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91067" y="1274773"/>
            <a:ext cx="3980921" cy="89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</a:p>
          <a:p>
            <a:r>
              <a:rPr lang="es-ES" sz="1600" dirty="0">
                <a:solidFill>
                  <a:schemeClr val="bg1"/>
                </a:solidFill>
              </a:rPr>
              <a:t>Full Stack Developer </a:t>
            </a:r>
            <a:endParaRPr lang="es-ES" sz="1600" b="1" dirty="0">
              <a:solidFill>
                <a:schemeClr val="bg1"/>
              </a:solidFill>
            </a:endParaRPr>
          </a:p>
          <a:p>
            <a:endParaRPr lang="es-ES" sz="1600" b="1" noProof="0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endParaRPr lang="es-ES" sz="1600" b="1" noProof="0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buNone/>
            </a:pPr>
            <a:endParaRPr lang="es-ES" sz="2650" noProof="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91067" y="2042261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491066" y="235280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248" y="6302821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1358" y="6302821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8905" y="6048180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9812" y="6231492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965237" y="6180339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5273055" y="214820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282466" y="2171355"/>
            <a:ext cx="817032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5583" y="6180339"/>
            <a:ext cx="2257425" cy="1742029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0038" y="2223713"/>
            <a:ext cx="3684978" cy="3458413"/>
          </a:xfrm>
          <a:prstGeom prst="rect">
            <a:avLst/>
          </a:prstGeom>
        </p:spPr>
      </p:pic>
      <p:sp>
        <p:nvSpPr>
          <p:cNvPr id="30" name="Rectángulo 29">
            <a:extLst>
              <a:ext uri="{FF2B5EF4-FFF2-40B4-BE49-F238E27FC236}">
                <a16:creationId xmlns:a16="http://schemas.microsoft.com/office/drawing/2014/main" id="{15DC37D6-FBDE-3790-AA33-DB8AAF438A93}"/>
              </a:ext>
            </a:extLst>
          </p:cNvPr>
          <p:cNvSpPr/>
          <p:nvPr/>
        </p:nvSpPr>
        <p:spPr>
          <a:xfrm>
            <a:off x="-82473" y="-87923"/>
            <a:ext cx="14823831" cy="840544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0749" y="4906807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373764" y="4957960"/>
            <a:ext cx="3057187" cy="1506455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437434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35985" y="1294941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s-ES" sz="2650" noProof="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35985" y="199166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35985" y="247214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582084" y="96597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6852622" y="1416576"/>
            <a:ext cx="754236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Especialización en Inteligencia Artificial y Big Data (2025 – actualidad)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(2023 – 2025)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C605DB4C-7F52-D612-A7AD-54044C337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2622" y="3847416"/>
            <a:ext cx="7657606" cy="4382184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4DA1B2C-CC4D-609B-0EBE-4AA6159C6C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073" y="1884611"/>
            <a:ext cx="3849786" cy="540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20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8651424" cy="5233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2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3600" noProof="0" dirty="0"/>
          </a:p>
          <a:p>
            <a:pPr marL="0" indent="0" algn="l">
              <a:buNone/>
            </a:pPr>
            <a:endParaRPr lang="es-ES" sz="36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748848"/>
            <a:ext cx="131158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2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6323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8227281" y="5411777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8227281" y="6208436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385991" y="6367146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 err="1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810867" y="6394889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8227281" y="6897139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385991" y="7055849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810867" y="7045588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8227281" y="7603983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385991" y="776269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9185675" y="7743999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 err="1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61" y="4764131"/>
            <a:ext cx="2979868" cy="29798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</a:t>
            </a:r>
            <a:r>
              <a:rPr lang="es-ES" sz="3750" noProof="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MediaMarkt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741385" y="1550851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7" y="1907576"/>
            <a:ext cx="13834914" cy="6239415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492576" y="646481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s-ES" sz="375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2987654" y="229870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225427" y="1532768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489092" y="1542531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3" y="4212624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6D35-F9BD-3C41-5800-C9DA6E0E3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230D84B-54A9-C6FD-2064-9ADCAF852DDE}"/>
              </a:ext>
            </a:extLst>
          </p:cNvPr>
          <p:cNvSpPr/>
          <p:nvPr/>
        </p:nvSpPr>
        <p:spPr>
          <a:xfrm>
            <a:off x="352727" y="361207"/>
            <a:ext cx="283153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35B9C95-681D-39E7-9C01-029692D685A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4023CD3B-E978-E022-C5C0-F9313FE11CE7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E3A0D76-28FD-B893-CA0D-BBEFD0D39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952" y="710005"/>
            <a:ext cx="11286448" cy="7519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183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2883-4D84-6E70-E809-16530389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579299-8E8C-CB93-0E4B-9A19395C685A}"/>
              </a:ext>
            </a:extLst>
          </p:cNvPr>
          <p:cNvSpPr/>
          <p:nvPr/>
        </p:nvSpPr>
        <p:spPr>
          <a:xfrm>
            <a:off x="85578" y="361207"/>
            <a:ext cx="325837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 (Login)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1D176B-CCB8-1A5A-AAC7-128EC3F11FC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CF810CD-1A6B-6583-BBBD-49BC453696F4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3632794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F0942-EEA4-2629-0482-C8FA450E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0DC5653-4987-57EC-F35F-68737407D1BA}"/>
              </a:ext>
            </a:extLst>
          </p:cNvPr>
          <p:cNvSpPr/>
          <p:nvPr/>
        </p:nvSpPr>
        <p:spPr>
          <a:xfrm>
            <a:off x="172122" y="361207"/>
            <a:ext cx="5647765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Login (Iniciar Sesión)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783F987-A57A-04AF-E7AF-A5400E842D63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BB08BE5-D3E9-929C-5E66-BC5755AAE6F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6379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F3B3F-0D5A-5323-8A64-45B981604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6D189F3-F32A-0180-69CF-E373389C0DA4}"/>
              </a:ext>
            </a:extLst>
          </p:cNvPr>
          <p:cNvSpPr/>
          <p:nvPr/>
        </p:nvSpPr>
        <p:spPr>
          <a:xfrm>
            <a:off x="172122" y="361207"/>
            <a:ext cx="339941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Registro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D560C5C-9AFF-438D-C84D-6F59526F0F6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B24816B-C07A-D128-3AC4-45B1F3E572C6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26389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3154D-3FCD-B3D4-CC83-1B2269588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34D1F76-2909-B9E2-3F52-5BF6FF6DAEE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Recordar Pass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0070BF48-9985-63D9-87C3-4B578C9112F1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82CA84C-3129-8071-7B18-20A0E48EDDD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611230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A46F8-BDD2-9391-A571-B3D1430FD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68F4CBC-C493-CED9-2D24-10BF6CE7E56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Productos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0ECDD4B-94DA-D840-4C50-082C20545D12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E2046D4-F115-02D7-C49B-8FBE3891E86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272819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808F8-43FD-08C2-EB3E-C4566434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4F3CDF3-CFB5-E20F-3D9A-56FC302DABA4}"/>
              </a:ext>
            </a:extLst>
          </p:cNvPr>
          <p:cNvSpPr/>
          <p:nvPr/>
        </p:nvSpPr>
        <p:spPr>
          <a:xfrm>
            <a:off x="172122" y="361207"/>
            <a:ext cx="442139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Detalles Producto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9D69AEE-B7DC-C06C-BC66-ABF5BB2B4240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9ADC353-52A5-04D8-27C7-AF9BAD59A85A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934407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0EA62-131E-8F21-9363-C78C4B2F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3CA6983-225D-FCE9-9B63-1EFD789F8B27}"/>
              </a:ext>
            </a:extLst>
          </p:cNvPr>
          <p:cNvSpPr/>
          <p:nvPr/>
        </p:nvSpPr>
        <p:spPr>
          <a:xfrm>
            <a:off x="172123" y="361207"/>
            <a:ext cx="2678654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Favoritos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F491EF2-0700-B8C1-B4AD-2684B9DCFF0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99BA85F-3A5A-20CA-DCD8-40C41930AF4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358089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ADC7E-C834-F249-1AEC-CB8F0CC56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FF27705-749B-6574-D7D9-85122454BDC6}"/>
              </a:ext>
            </a:extLst>
          </p:cNvPr>
          <p:cNvSpPr/>
          <p:nvPr/>
        </p:nvSpPr>
        <p:spPr>
          <a:xfrm>
            <a:off x="172123" y="361207"/>
            <a:ext cx="268941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Cesta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54164BA-870B-7D04-4032-97EB312D45C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88989C5-F955-B267-CFD7-517D49AFE049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1073859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4D47-6DDF-36F3-2D0E-1BAD84CF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645D5F1-5E4E-ED6C-DA70-98FB31C2BF86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Tarjetas Aprender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F4DD18-01BC-71B5-B065-5CF225E88BA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9074933-68E0-71E7-4760-0AEA6E93E202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933697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123DF-C7E4-44B3-4549-1343D868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BE4F59F-33F0-6F04-0401-ADFE6A1B9DCE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Sobre Nosotros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C893C175-2FCF-11E3-C4B0-0DBA3BCCF824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179C71EB-542C-FD92-10B4-380931815741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1928110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629254"/>
            <a:ext cx="13040544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más vistos y productos recomendados 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1636780"/>
            <a:ext cx="13115848" cy="1913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Se implementa en la pagina principal un scroll horizontal para que muestre los productos más vistos en tiempo real. </a:t>
            </a:r>
            <a:endParaRPr lang="es-ES" sz="2400" noProof="0" dirty="0"/>
          </a:p>
          <a:p>
            <a:endParaRPr lang="es-ES" sz="2400" noProof="0" dirty="0"/>
          </a:p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Además de que cuando el usuario entra en detalles de producto, se ve al final más productos recomendados por categoría.</a:t>
            </a:r>
            <a:endParaRPr lang="es-ES" sz="2400" noProof="0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957" y="3882458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Flujo pregunta - respuesta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Usuario escribe mensaje –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frontend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lo muestra y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responde - backend devuelve la respuesta –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frontend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muestra la respuesta del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bot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s-ES" noProof="0" dirty="0">
              <a:ea typeface="Calibri"/>
              <a:cs typeface="Calibri"/>
            </a:endParaRPr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Usuario escribe mensaje – pulsa enviar – se ejecuta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Es una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valida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() evita mensajes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actualiza estado – llama al backend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Accion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 del usuario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 añade al estado – se limpia el input – se actualiza la UI 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Mensaje del usuario</a:t>
            </a:r>
            <a:endParaRPr lang="es-ES" noProof="0" dirty="0">
              <a:ea typeface="+mn-lt"/>
              <a:cs typeface="+mn-lt"/>
            </a:endParaRPr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Llamada al backend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Separa la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Comunica con backend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Body con mensaje</a:t>
            </a:r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Petición HTTP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Recibe mensaje – llama a AWS – Devuelve respuesta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IA genera texto – Backend lo devuelve </a:t>
            </a:r>
            <a:endParaRPr lang="es-ES" noProof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noProof="0" dirty="0"/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noProof="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  <a:endParaRPr lang="es-ES" sz="3750" noProof="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Recibe la respuesta en JSON</a:t>
            </a:r>
            <a:endParaRPr lang="es-ES" sz="1500" noProof="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noProof="0" dirty="0">
              <a:ea typeface="+mn-lt"/>
              <a:cs typeface="+mn-lt"/>
            </a:endParaRPr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Retorna la respuesta</a:t>
            </a:r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 añade al estado – Se muestra en pantalla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Mensaje del </a:t>
            </a:r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bot</a:t>
            </a:r>
            <a:endParaRPr lang="es-ES" noProof="0" dirty="0"/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-135467" y="156689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2293" y="-679531"/>
            <a:ext cx="5200731" cy="5200731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0" y="4126341"/>
            <a:ext cx="146304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</a:rPr>
              <a:t>Queremos agradecer a nuestra profesora Alejandra por su implicación, claridad en la enseñanza y acompañamiento constante durante todo el desarrollo del proyecto. Su apoyo y orientación han sido clave para nuestro aprendizaje y crecimiento técnico.</a:t>
            </a:r>
          </a:p>
          <a:p>
            <a:pPr>
              <a:buNone/>
            </a:pPr>
            <a:r>
              <a:rPr lang="es-ES" sz="3200" b="1" dirty="0">
                <a:solidFill>
                  <a:schemeClr val="bg1"/>
                </a:solidFill>
              </a:rPr>
              <a:t>También queremos dar las gracias a las coordinadoras de Fundación Adecco por la organización, el seguimiento y el apoyo continuo a lo largo de la formación. Su labor ha sido fundamental para crear un entorno de aprendizaje profesional y accesible.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1161</TotalTime>
  <Words>980</Words>
  <Application>Microsoft Office PowerPoint</Application>
  <PresentationFormat>Personalizado</PresentationFormat>
  <Paragraphs>208</Paragraphs>
  <Slides>28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4" baseType="lpstr">
      <vt:lpstr>Noto Sans TC</vt:lpstr>
      <vt:lpstr>Calibri</vt:lpstr>
      <vt:lpstr>Arial</vt:lpstr>
      <vt:lpstr>Sora Medium</vt:lpstr>
      <vt:lpstr>Corbel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Iker Martinez</cp:lastModifiedBy>
  <cp:revision>344</cp:revision>
  <dcterms:created xsi:type="dcterms:W3CDTF">2026-01-18T22:42:39Z</dcterms:created>
  <dcterms:modified xsi:type="dcterms:W3CDTF">2026-01-21T09:19:14Z</dcterms:modified>
</cp:coreProperties>
</file>