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84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</p:sldIdLst>
  <p:sldSz cx="12192000" cy="6858000"/>
  <p:notesSz cx="7559675" cy="10691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00E9A9-7BD6-0B9E-64A7-2ED13C0ADCD3}" v="411" dt="2026-01-15T14:23:16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9" Type="http://schemas.openxmlformats.org/officeDocument/2006/relationships/slide" Target="slides/slide26.xml"/><Relationship Id="rId21" Type="http://schemas.openxmlformats.org/officeDocument/2006/relationships/slide" Target="slides/slide8.xml"/><Relationship Id="rId34" Type="http://schemas.openxmlformats.org/officeDocument/2006/relationships/slide" Target="slides/slide21.xml"/><Relationship Id="rId42" Type="http://schemas.openxmlformats.org/officeDocument/2006/relationships/slide" Target="slides/slide29.xml"/><Relationship Id="rId47" Type="http://schemas.microsoft.com/office/2016/11/relationships/changesInfo" Target="changesInfos/changesInfo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3.xml"/><Relationship Id="rId29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1.xml"/><Relationship Id="rId32" Type="http://schemas.openxmlformats.org/officeDocument/2006/relationships/slide" Target="slides/slide19.xml"/><Relationship Id="rId37" Type="http://schemas.openxmlformats.org/officeDocument/2006/relationships/slide" Target="slides/slide24.xml"/><Relationship Id="rId40" Type="http://schemas.openxmlformats.org/officeDocument/2006/relationships/slide" Target="slides/slide27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openxmlformats.org/officeDocument/2006/relationships/slide" Target="slides/slide23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6.xml"/><Relationship Id="rId31" Type="http://schemas.openxmlformats.org/officeDocument/2006/relationships/slide" Target="slides/slide18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slide" Target="slides/slide22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slide" Target="slides/slide20.xml"/><Relationship Id="rId38" Type="http://schemas.openxmlformats.org/officeDocument/2006/relationships/slide" Target="slides/slide25.xml"/><Relationship Id="rId46" Type="http://schemas.openxmlformats.org/officeDocument/2006/relationships/tableStyles" Target="tableStyles.xml"/><Relationship Id="rId20" Type="http://schemas.openxmlformats.org/officeDocument/2006/relationships/slide" Target="slides/slide7.xml"/><Relationship Id="rId41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3000E9A9-7BD6-0B9E-64A7-2ED13C0ADCD3}"/>
    <pc:docChg chg="addSld modSld">
      <pc:chgData name="ALAFARGA PAYÁ, NOELIA" userId="S::noealapay@alu.edu.gva.es::0f7d828b-fef2-45dd-aa63-66f36ab4b478" providerId="AD" clId="Web-{3000E9A9-7BD6-0B9E-64A7-2ED13C0ADCD3}" dt="2026-01-15T14:23:16.850" v="410" actId="20577"/>
      <pc:docMkLst>
        <pc:docMk/>
      </pc:docMkLst>
      <pc:sldChg chg="modSp">
        <pc:chgData name="ALAFARGA PAYÁ, NOELIA" userId="S::noealapay@alu.edu.gva.es::0f7d828b-fef2-45dd-aa63-66f36ab4b478" providerId="AD" clId="Web-{3000E9A9-7BD6-0B9E-64A7-2ED13C0ADCD3}" dt="2026-01-15T14:03:15.797" v="55" actId="1076"/>
        <pc:sldMkLst>
          <pc:docMk/>
          <pc:sldMk cId="0" sldId="259"/>
        </pc:sldMkLst>
        <pc:picChg chg="mod">
          <ac:chgData name="ALAFARGA PAYÁ, NOELIA" userId="S::noealapay@alu.edu.gva.es::0f7d828b-fef2-45dd-aa63-66f36ab4b478" providerId="AD" clId="Web-{3000E9A9-7BD6-0B9E-64A7-2ED13C0ADCD3}" dt="2026-01-15T14:02:31.343" v="53" actId="1076"/>
          <ac:picMkLst>
            <pc:docMk/>
            <pc:sldMk cId="0" sldId="259"/>
            <ac:picMk id="113" creationId="{00000000-0000-0000-0000-000000000000}"/>
          </ac:picMkLst>
        </pc:picChg>
        <pc:picChg chg="mod">
          <ac:chgData name="ALAFARGA PAYÁ, NOELIA" userId="S::noealapay@alu.edu.gva.es::0f7d828b-fef2-45dd-aa63-66f36ab4b478" providerId="AD" clId="Web-{3000E9A9-7BD6-0B9E-64A7-2ED13C0ADCD3}" dt="2026-01-15T14:03:15.797" v="55" actId="1076"/>
          <ac:picMkLst>
            <pc:docMk/>
            <pc:sldMk cId="0" sldId="259"/>
            <ac:picMk id="115" creationId="{00000000-0000-0000-0000-000000000000}"/>
          </ac:picMkLst>
        </pc:picChg>
        <pc:picChg chg="mod">
          <ac:chgData name="ALAFARGA PAYÁ, NOELIA" userId="S::noealapay@alu.edu.gva.es::0f7d828b-fef2-45dd-aa63-66f36ab4b478" providerId="AD" clId="Web-{3000E9A9-7BD6-0B9E-64A7-2ED13C0ADCD3}" dt="2026-01-15T14:02:27.812" v="52" actId="1076"/>
          <ac:picMkLst>
            <pc:docMk/>
            <pc:sldMk cId="0" sldId="259"/>
            <ac:picMk id="116" creationId="{00000000-0000-0000-0000-000000000000}"/>
          </ac:picMkLst>
        </pc:picChg>
      </pc:sldChg>
      <pc:sldChg chg="modSp">
        <pc:chgData name="ALAFARGA PAYÁ, NOELIA" userId="S::noealapay@alu.edu.gva.es::0f7d828b-fef2-45dd-aa63-66f36ab4b478" providerId="AD" clId="Web-{3000E9A9-7BD6-0B9E-64A7-2ED13C0ADCD3}" dt="2026-01-15T14:00:53.264" v="50" actId="20577"/>
        <pc:sldMkLst>
          <pc:docMk/>
          <pc:sldMk cId="0" sldId="262"/>
        </pc:sldMkLst>
        <pc:spChg chg="mod">
          <ac:chgData name="ALAFARGA PAYÁ, NOELIA" userId="S::noealapay@alu.edu.gva.es::0f7d828b-fef2-45dd-aa63-66f36ab4b478" providerId="AD" clId="Web-{3000E9A9-7BD6-0B9E-64A7-2ED13C0ADCD3}" dt="2026-01-15T14:00:53.264" v="50" actId="20577"/>
          <ac:spMkLst>
            <pc:docMk/>
            <pc:sldMk cId="0" sldId="262"/>
            <ac:spMk id="132" creationId="{00000000-0000-0000-0000-000000000000}"/>
          </ac:spMkLst>
        </pc:spChg>
      </pc:sldChg>
      <pc:sldChg chg="delSp">
        <pc:chgData name="ALAFARGA PAYÁ, NOELIA" userId="S::noealapay@alu.edu.gva.es::0f7d828b-fef2-45dd-aa63-66f36ab4b478" providerId="AD" clId="Web-{3000E9A9-7BD6-0B9E-64A7-2ED13C0ADCD3}" dt="2026-01-15T14:04:31.470" v="56"/>
        <pc:sldMkLst>
          <pc:docMk/>
          <pc:sldMk cId="0" sldId="263"/>
        </pc:sldMkLst>
        <pc:spChg chg="del">
          <ac:chgData name="ALAFARGA PAYÁ, NOELIA" userId="S::noealapay@alu.edu.gva.es::0f7d828b-fef2-45dd-aa63-66f36ab4b478" providerId="AD" clId="Web-{3000E9A9-7BD6-0B9E-64A7-2ED13C0ADCD3}" dt="2026-01-15T14:04:31.470" v="56"/>
          <ac:spMkLst>
            <pc:docMk/>
            <pc:sldMk cId="0" sldId="263"/>
            <ac:spMk id="135" creationId="{00000000-0000-0000-0000-000000000000}"/>
          </ac:spMkLst>
        </pc:spChg>
      </pc:sldChg>
      <pc:sldChg chg="modSp">
        <pc:chgData name="ALAFARGA PAYÁ, NOELIA" userId="S::noealapay@alu.edu.gva.es::0f7d828b-fef2-45dd-aa63-66f36ab4b478" providerId="AD" clId="Web-{3000E9A9-7BD6-0B9E-64A7-2ED13C0ADCD3}" dt="2026-01-15T14:09:52.045" v="119" actId="20577"/>
        <pc:sldMkLst>
          <pc:docMk/>
          <pc:sldMk cId="0" sldId="264"/>
        </pc:sldMkLst>
        <pc:spChg chg="mod">
          <ac:chgData name="ALAFARGA PAYÁ, NOELIA" userId="S::noealapay@alu.edu.gva.es::0f7d828b-fef2-45dd-aa63-66f36ab4b478" providerId="AD" clId="Web-{3000E9A9-7BD6-0B9E-64A7-2ED13C0ADCD3}" dt="2026-01-15T14:09:52.045" v="119" actId="20577"/>
          <ac:spMkLst>
            <pc:docMk/>
            <pc:sldMk cId="0" sldId="264"/>
            <ac:spMk id="138" creationId="{00000000-0000-0000-0000-000000000000}"/>
          </ac:spMkLst>
        </pc:spChg>
      </pc:sldChg>
      <pc:sldChg chg="modSp add replId">
        <pc:chgData name="ALAFARGA PAYÁ, NOELIA" userId="S::noealapay@alu.edu.gva.es::0f7d828b-fef2-45dd-aa63-66f36ab4b478" providerId="AD" clId="Web-{3000E9A9-7BD6-0B9E-64A7-2ED13C0ADCD3}" dt="2026-01-15T14:23:16.850" v="410" actId="20577"/>
        <pc:sldMkLst>
          <pc:docMk/>
          <pc:sldMk cId="2277457158" sldId="284"/>
        </pc:sldMkLst>
        <pc:spChg chg="mod">
          <ac:chgData name="ALAFARGA PAYÁ, NOELIA" userId="S::noealapay@alu.edu.gva.es::0f7d828b-fef2-45dd-aa63-66f36ab4b478" providerId="AD" clId="Web-{3000E9A9-7BD6-0B9E-64A7-2ED13C0ADCD3}" dt="2026-01-15T14:16:16.218" v="126" actId="20577"/>
          <ac:spMkLst>
            <pc:docMk/>
            <pc:sldMk cId="2277457158" sldId="284"/>
            <ac:spMk id="131" creationId="{864AA5EB-9F14-C8B3-A349-8A4F37F2614C}"/>
          </ac:spMkLst>
        </pc:spChg>
        <pc:spChg chg="mod">
          <ac:chgData name="ALAFARGA PAYÁ, NOELIA" userId="S::noealapay@alu.edu.gva.es::0f7d828b-fef2-45dd-aa63-66f36ab4b478" providerId="AD" clId="Web-{3000E9A9-7BD6-0B9E-64A7-2ED13C0ADCD3}" dt="2026-01-15T14:23:16.850" v="410" actId="20577"/>
          <ac:spMkLst>
            <pc:docMk/>
            <pc:sldMk cId="2277457158" sldId="284"/>
            <ac:spMk id="132" creationId="{E69E1813-5D2D-DD33-8E6E-5A28638F8C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80400" y="4711680"/>
            <a:ext cx="9613440" cy="109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10BF7E-9D5E-4CC3-A8E3-7F0259A1E26D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F807B7-4276-4067-B682-1DE1153EA2EC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4667AC6-FF29-4C1F-8E8C-A5A1E01F18A0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7449D5-D83D-4BF1-8C2D-A1F169F05B55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80400" y="4711680"/>
            <a:ext cx="9613440" cy="109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B0E7045-ECC8-4A98-AD87-F307C58990A5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BDD13E2-E87B-4ECA-9828-00F3D4E926C1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80400" y="4711680"/>
            <a:ext cx="4691160" cy="109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606640" y="4711680"/>
            <a:ext cx="4691160" cy="109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B0240E8-4386-49E1-9D5A-A2824E814903}" type="slidenum">
              <a:t>‹Nº›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8C21076-4C7F-442B-9AB5-B5A9E201040F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2BAB6E59-5B67-4D73-B186-A458747BE114}" type="slidenum">
              <a:t>‹Nº›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3C531DA4-D3A5-4991-8844-8C02D029CB6A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EB605839-C574-4C9E-8BA3-0659EB870C5E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F5B1413D-72FB-4C46-8DE2-53786987DCCC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ítulo y descripció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lstStyle/>
          <a:p>
            <a:fld id="{2A172765-A3B4-4786-A7B1-5136B7114087}" type="slidenum">
              <a:t>‹Nº›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09880" y="88236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3750" lnSpcReduction="20000"/>
          </a:bodyPr>
          <a:lstStyle/>
          <a:p>
            <a:pPr indent="0" algn="ctr" defTabSz="914400">
              <a:lnSpc>
                <a:spcPct val="85000"/>
              </a:lnSpc>
              <a:buNone/>
            </a:pPr>
            <a:r>
              <a:rPr lang="es-ES" sz="7200" b="1" strike="noStrike" cap="all" spc="-1">
                <a:solidFill>
                  <a:srgbClr val="FFFFFF"/>
                </a:solidFill>
                <a:latin typeface="Corbel"/>
              </a:rPr>
              <a:t>Haga clic para modificar el estilo de título del patrón</a:t>
            </a:r>
            <a:endParaRPr lang="en-US" sz="7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B0DD327-7C89-4850-8915-378A6EABBAAC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6" name="Straight Connector 7"/>
          <p:cNvCxnSpPr/>
          <p:nvPr/>
        </p:nvCxnSpPr>
        <p:spPr>
          <a:xfrm>
            <a:off x="1978560" y="3733560"/>
            <a:ext cx="8229960" cy="360"/>
          </a:xfrm>
          <a:prstGeom prst="straightConnector1">
            <a:avLst/>
          </a:prstGeom>
          <a:ln>
            <a:solidFill>
              <a:srgbClr val="FFFFFF"/>
            </a:solidFill>
            <a:round/>
          </a:ln>
        </p:spPr>
      </p:cxn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strike="noStrike" spc="-1">
                <a:solidFill>
                  <a:schemeClr val="accent1"/>
                </a:solidFill>
                <a:latin typeface="Corbel"/>
              </a:rPr>
              <a:t>Pulse para editar el formato de texto del esquema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accent1"/>
                </a:solidFill>
                <a:latin typeface="Corbel"/>
              </a:rPr>
              <a:t>Segundo nivel del esquema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chemeClr val="accent1"/>
                </a:solidFill>
                <a:latin typeface="Corbel"/>
              </a:rPr>
              <a:t>Tercer nivel del esquema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chemeClr val="accent1"/>
                </a:solidFill>
                <a:latin typeface="Corbel"/>
              </a:rPr>
              <a:t>Cuarto nivel del esquema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accent1"/>
                </a:solidFill>
                <a:latin typeface="Corbel"/>
              </a:rPr>
              <a:t>Quinto nivel del esquema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accent1"/>
                </a:solidFill>
                <a:latin typeface="Corbel"/>
              </a:rPr>
              <a:t>Sexto nivel del esquema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accent1"/>
                </a:solidFill>
                <a:latin typeface="Corbe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4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5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6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8EE163D-B9EF-472D-9D11-763796A88E99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724960" y="762120"/>
            <a:ext cx="2323800" cy="5409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1143000" y="762120"/>
            <a:ext cx="7429320" cy="5409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7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8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9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6FFF33-16E7-49C6-87E0-003485BFB93B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32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80400" y="4711680"/>
            <a:ext cx="9613440" cy="10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0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1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2"/>
          </p:nvPr>
        </p:nvSpPr>
        <p:spPr>
          <a:xfrm>
            <a:off x="10729440" y="4711680"/>
            <a:ext cx="1153800" cy="10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463C47-D480-4C49-B97D-145575883491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987264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3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4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sldNum" idx="15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9EB67C-183B-4116-8413-E076E9EEC1A5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106280" y="117360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85000"/>
              </a:lnSpc>
              <a:buNone/>
            </a:pPr>
            <a:r>
              <a:rPr lang="es-ES" sz="7200" b="0" strike="noStrike" cap="all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7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1710000" y="4154400"/>
            <a:ext cx="8768880" cy="136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16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17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41" name="PlaceHolder 5"/>
          <p:cNvSpPr>
            <a:spLocks noGrp="1"/>
          </p:cNvSpPr>
          <p:nvPr>
            <p:ph type="sldNum" idx="18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45FE45-98D6-47F7-9625-398BFAEA7514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42" name="Straight Connector 6"/>
          <p:cNvCxnSpPr/>
          <p:nvPr/>
        </p:nvCxnSpPr>
        <p:spPr>
          <a:xfrm>
            <a:off x="1981080" y="4020120"/>
            <a:ext cx="8229960" cy="360"/>
          </a:xfrm>
          <a:prstGeom prst="straightConnector1">
            <a:avLst/>
          </a:prstGeom>
          <a:ln>
            <a:solidFill>
              <a:srgbClr val="A6B727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4754520" cy="402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267600" y="2057400"/>
            <a:ext cx="4754520" cy="402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9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0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21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E7BA34-BFE4-4839-BDB7-A6A0EC17EE75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143000" y="2001600"/>
            <a:ext cx="4754520" cy="77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1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4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143000" y="2721600"/>
            <a:ext cx="47545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6269040" y="1999080"/>
            <a:ext cx="4754520" cy="77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1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4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6269040" y="2719440"/>
            <a:ext cx="4754520" cy="3382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2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18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dt" idx="22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7"/>
          <p:cNvSpPr>
            <a:spLocks noGrp="1"/>
          </p:cNvSpPr>
          <p:nvPr>
            <p:ph type="ftr" idx="23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61" name="PlaceHolder 8"/>
          <p:cNvSpPr>
            <a:spLocks noGrp="1"/>
          </p:cNvSpPr>
          <p:nvPr>
            <p:ph type="sldNum" idx="24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025C4F-5BED-4D67-B0A8-98BDD34C3397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5160" cy="13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4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4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dt" idx="25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ftr" idx="26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66" name="PlaceHolder 4"/>
          <p:cNvSpPr>
            <a:spLocks noGrp="1"/>
          </p:cNvSpPr>
          <p:nvPr>
            <p:ph type="sldNum" idx="27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C0F3C9-7278-4825-B303-EEFA8B2E29FF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dt" idx="28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ftr" idx="29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71" name="PlaceHolder 3"/>
          <p:cNvSpPr>
            <a:spLocks noGrp="1"/>
          </p:cNvSpPr>
          <p:nvPr>
            <p:ph type="sldNum" idx="30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148D1C-049C-4A07-899C-8C0C9B8EA03C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560" cy="1737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0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852160" y="1097280"/>
            <a:ext cx="5211720" cy="466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182880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32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3200" b="0" strike="noStrike" spc="-1">
              <a:solidFill>
                <a:schemeClr val="accent1"/>
              </a:solidFill>
              <a:latin typeface="Corbel"/>
            </a:endParaRPr>
          </a:p>
          <a:p>
            <a:pPr marL="457200" lvl="1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800" b="0" strike="noStrike" spc="-1">
                <a:solidFill>
                  <a:schemeClr val="accent1"/>
                </a:solidFill>
                <a:latin typeface="Corbel"/>
              </a:rPr>
              <a:t>Segundo nivel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marL="731520" lvl="2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400" b="0" strike="noStrike" spc="-1">
                <a:solidFill>
                  <a:schemeClr val="accent1"/>
                </a:solidFill>
                <a:latin typeface="Corbel"/>
              </a:rPr>
              <a:t>Tercer nivel</a:t>
            </a:r>
            <a:endParaRPr lang="en-US" sz="2400" b="0" strike="noStrike" spc="-1">
              <a:solidFill>
                <a:schemeClr val="accent1"/>
              </a:solidFill>
              <a:latin typeface="Corbel"/>
            </a:endParaRPr>
          </a:p>
          <a:p>
            <a:pPr marL="1005840" lvl="3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Cuarto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  <a:p>
            <a:pPr marL="1280160" lvl="4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A6B727"/>
              </a:buClr>
              <a:buSzPct val="80000"/>
              <a:buFont typeface="Corbel"/>
              <a:buChar char="•"/>
            </a:pPr>
            <a:r>
              <a:rPr lang="es-ES" sz="2000" b="0" strike="noStrike" spc="-1">
                <a:solidFill>
                  <a:schemeClr val="accent1"/>
                </a:solidFill>
                <a:latin typeface="Corbel"/>
              </a:rPr>
              <a:t>Quinto nivel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1143000" y="2834640"/>
            <a:ext cx="3931560" cy="301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7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17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dt" idx="31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ftr" idx="32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78" name="PlaceHolder 6"/>
          <p:cNvSpPr>
            <a:spLocks noGrp="1"/>
          </p:cNvSpPr>
          <p:nvPr>
            <p:ph type="sldNum" idx="33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198F52-CBF9-4757-B18A-98F0C78C57E4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560" cy="1737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40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413320" y="1069920"/>
            <a:ext cx="6098760" cy="4800240"/>
          </a:xfrm>
          <a:prstGeom prst="rect">
            <a:avLst/>
          </a:prstGeom>
          <a:noFill/>
          <a:ln w="0">
            <a:noFill/>
          </a:ln>
        </p:spPr>
        <p:txBody>
          <a:bodyPr lIns="274320" tIns="182880" rIns="90000" bIns="45000" anchor="t">
            <a:norm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800" b="0" strike="noStrike" spc="-1">
                <a:solidFill>
                  <a:schemeClr val="dk1"/>
                </a:solidFill>
                <a:latin typeface="Corbel"/>
              </a:rPr>
              <a:t>Haga clic en el icono para agregar una imagen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1143000" y="2834640"/>
            <a:ext cx="3931560" cy="288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7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17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34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35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85" name="PlaceHolder 6"/>
          <p:cNvSpPr>
            <a:spLocks noGrp="1"/>
          </p:cNvSpPr>
          <p:nvPr>
            <p:ph type="sldNum" idx="36"/>
          </p:nvPr>
        </p:nvSpPr>
        <p:spPr>
          <a:xfrm>
            <a:off x="9329400" y="6223680"/>
            <a:ext cx="1705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F9FA57-B347-45A9-BDD7-2FC3F48D5900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6"/>
          <p:cNvSpPr/>
          <p:nvPr/>
        </p:nvSpPr>
        <p:spPr>
          <a:xfrm>
            <a:off x="231120" y="243720"/>
            <a:ext cx="11724120" cy="63774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80400" y="609480"/>
            <a:ext cx="9613440" cy="359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s-ES" sz="3200" b="0" strike="noStrike" spc="-1">
                <a:solidFill>
                  <a:schemeClr val="accent1"/>
                </a:solidFill>
                <a:latin typeface="Corbel"/>
              </a:rPr>
              <a:t>Haga clic para modificar el estilo de título del patrón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80400" y="4711680"/>
            <a:ext cx="9613440" cy="10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1600" b="0" strike="noStrike" spc="-1">
                <a:solidFill>
                  <a:schemeClr val="accent1"/>
                </a:solidFill>
                <a:latin typeface="Corbel"/>
              </a:rPr>
              <a:t>Haga clic para modificar los estilos de texto del patrón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dt" idx="37"/>
          </p:nvPr>
        </p:nvSpPr>
        <p:spPr>
          <a:xfrm>
            <a:off x="1143000" y="6223680"/>
            <a:ext cx="2328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s-ES" sz="1200" b="0" strike="noStrike" spc="-1">
                <a:solidFill>
                  <a:schemeClr val="accent1"/>
                </a:solidFill>
                <a:latin typeface="Corbel"/>
              </a:rPr>
              <a:t>&lt;fecha/hora&gt;</a:t>
            </a:r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ftr" idx="38"/>
          </p:nvPr>
        </p:nvSpPr>
        <p:spPr>
          <a:xfrm>
            <a:off x="3949200" y="6223680"/>
            <a:ext cx="4717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strike="noStrike" spc="-1">
                <a:solidFill>
                  <a:srgbClr val="000000"/>
                </a:solidFill>
                <a:latin typeface="Times New Roman"/>
              </a:rPr>
              <a:t>&lt;pie de página&gt;</a:t>
            </a:r>
          </a:p>
        </p:txBody>
      </p:sp>
      <p:sp>
        <p:nvSpPr>
          <p:cNvPr id="91" name="PlaceHolder 5"/>
          <p:cNvSpPr>
            <a:spLocks noGrp="1"/>
          </p:cNvSpPr>
          <p:nvPr>
            <p:ph type="sldNum" idx="39"/>
          </p:nvPr>
        </p:nvSpPr>
        <p:spPr>
          <a:xfrm>
            <a:off x="10729440" y="4711680"/>
            <a:ext cx="1153800" cy="10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s-ES" sz="1200" b="0" strike="noStrike" spc="-1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4C074B-9633-43CA-94C8-60C5627FD04E}" type="slidenum">
              <a:rPr lang="es-ES" sz="1200" b="0" strike="noStrike" spc="-1">
                <a:solidFill>
                  <a:schemeClr val="accent1"/>
                </a:solidFill>
                <a:latin typeface="Corbel"/>
              </a:rPr>
              <a:t>‹Nº›</a:t>
            </a:fld>
            <a:endParaRPr lang="es-E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openxmlformats.org/officeDocument/2006/relationships/hyperlink" Target="https://github.com/DavidCorredorMiguel?tab=repositorie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es.linkedin.com/in/david-corredor-miguel-7b057624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elianikolatesla?tab=repositories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s://es.linkedin.com/in/noelia-alafarga-backend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ivangc1?tab=repositorie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oimenta84?tab=repositorie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es.linkedin.com/in/iker-martinez-dev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193400" y="448560"/>
            <a:ext cx="9966600" cy="292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s-ES" sz="7200" b="1" u="sng" strike="noStrike" cap="all" spc="-1">
                <a:solidFill>
                  <a:srgbClr val="002060"/>
                </a:solidFill>
                <a:uFillTx/>
                <a:latin typeface="Corbel"/>
              </a:rPr>
              <a:t>Tech &amp; Learn</a:t>
            </a:r>
            <a:endParaRPr lang="en-US" sz="7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1620000" y="3014280"/>
            <a:ext cx="9001080" cy="292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3200" b="1" u="sng" strike="noStrike" spc="-1">
                <a:solidFill>
                  <a:srgbClr val="002060"/>
                </a:solidFill>
                <a:uFillTx/>
                <a:latin typeface="Corbel"/>
              </a:rPr>
              <a:t>David Corredor Miguel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3200" b="1" u="sng" strike="noStrike" spc="-1">
                <a:solidFill>
                  <a:srgbClr val="002060"/>
                </a:solidFill>
                <a:uFillTx/>
                <a:latin typeface="Corbel"/>
              </a:rPr>
              <a:t>Ivan Goded Carrete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3200" b="1" u="sng" strike="noStrike" spc="-1">
                <a:solidFill>
                  <a:srgbClr val="002060"/>
                </a:solidFill>
                <a:uFillTx/>
                <a:latin typeface="Corbel"/>
              </a:rPr>
              <a:t>Iker Martínez Velasco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3200" b="1" u="sng" strike="noStrike" spc="-1">
                <a:solidFill>
                  <a:srgbClr val="002060"/>
                </a:solidFill>
                <a:uFillTx/>
                <a:latin typeface="Corbel"/>
              </a:rPr>
              <a:t>Noelia Alafarga Payá</a:t>
            </a:r>
            <a:endParaRPr lang="es-ES" sz="3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Imagen 3"/>
          <p:cNvPicPr/>
          <p:nvPr/>
        </p:nvPicPr>
        <p:blipFill>
          <a:blip r:embed="rId2"/>
          <a:stretch/>
        </p:blipFill>
        <p:spPr>
          <a:xfrm>
            <a:off x="7854840" y="1643400"/>
            <a:ext cx="4925160" cy="492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0" y="2643480"/>
            <a:ext cx="471312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Índice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257760" y="289080"/>
            <a:ext cx="11676240" cy="646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Redes, Git y Tecnologías Dominadas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Descripción y Boceto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Estudio de tiendas online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Home (Inicio)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Login (Iniciar Sesión)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Crear Usuario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Recordar Contraseña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Productos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Detalles Producto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Cesta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Tarjetas de Pago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Editar Tarjetas de Pago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Finalizar Compra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Tarjetas de Aprender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Editar Tarjetas de Aprender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  <a:p>
            <a:pPr marL="343080" indent="-343080" algn="ctr" defTabSz="914400">
              <a:lnSpc>
                <a:spcPct val="90000"/>
              </a:lnSpc>
              <a:spcBef>
                <a:spcPts val="1400"/>
              </a:spcBef>
              <a:buClr>
                <a:srgbClr val="A6B727"/>
              </a:buClr>
              <a:buSzPct val="80000"/>
              <a:buFont typeface="Corbel"/>
              <a:buAutoNum type="arabicPeriod"/>
            </a:pPr>
            <a:r>
              <a:rPr lang="es-ES" sz="1600" b="1" u="sng" strike="noStrike" spc="-1">
                <a:solidFill>
                  <a:srgbClr val="00B0F0"/>
                </a:solidFill>
                <a:uFillTx/>
                <a:latin typeface="Corbel"/>
              </a:rPr>
              <a:t>Inteligencia Artificial</a:t>
            </a: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  <p:pic>
        <p:nvPicPr>
          <p:cNvPr id="97" name="Imagen 4"/>
          <p:cNvPicPr/>
          <p:nvPr/>
        </p:nvPicPr>
        <p:blipFill>
          <a:blip r:embed="rId2"/>
          <a:stretch/>
        </p:blipFill>
        <p:spPr>
          <a:xfrm>
            <a:off x="7266600" y="1643400"/>
            <a:ext cx="4925160" cy="492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653256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3740" lnSpcReduction="20000"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3200" b="1" u="sng" strike="noStrike" spc="-1">
                <a:solidFill>
                  <a:srgbClr val="00B0F0"/>
                </a:solidFill>
                <a:uFillTx/>
                <a:latin typeface="Corbel"/>
              </a:rPr>
              <a:t>Redes, Git y Tecnologías Dominadas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pic>
        <p:nvPicPr>
          <p:cNvPr id="99" name="Imagen 4"/>
          <p:cNvPicPr/>
          <p:nvPr/>
        </p:nvPicPr>
        <p:blipFill>
          <a:blip r:embed="rId2"/>
          <a:stretch/>
        </p:blipFill>
        <p:spPr>
          <a:xfrm>
            <a:off x="7956360" y="235080"/>
            <a:ext cx="3977640" cy="1583280"/>
          </a:xfrm>
          <a:prstGeom prst="rect">
            <a:avLst/>
          </a:prstGeom>
          <a:ln w="0">
            <a:noFill/>
          </a:ln>
        </p:spPr>
      </p:pic>
      <p:pic>
        <p:nvPicPr>
          <p:cNvPr id="100" name="Imagen 7"/>
          <p:cNvPicPr/>
          <p:nvPr/>
        </p:nvPicPr>
        <p:blipFill>
          <a:blip r:embed="rId3"/>
          <a:stretch/>
        </p:blipFill>
        <p:spPr>
          <a:xfrm>
            <a:off x="8830440" y="1919880"/>
            <a:ext cx="1338840" cy="1338840"/>
          </a:xfrm>
          <a:prstGeom prst="rect">
            <a:avLst/>
          </a:prstGeom>
          <a:ln w="0">
            <a:noFill/>
          </a:ln>
        </p:spPr>
      </p:pic>
      <p:pic>
        <p:nvPicPr>
          <p:cNvPr id="101" name="Imagen 9"/>
          <p:cNvPicPr/>
          <p:nvPr/>
        </p:nvPicPr>
        <p:blipFill>
          <a:blip r:embed="rId4"/>
          <a:stretch/>
        </p:blipFill>
        <p:spPr>
          <a:xfrm>
            <a:off x="10319040" y="3171600"/>
            <a:ext cx="1583280" cy="1583280"/>
          </a:xfrm>
          <a:prstGeom prst="rect">
            <a:avLst/>
          </a:prstGeom>
          <a:ln w="0">
            <a:noFill/>
          </a:ln>
        </p:spPr>
      </p:pic>
      <p:pic>
        <p:nvPicPr>
          <p:cNvPr id="102" name="Imagen 11"/>
          <p:cNvPicPr/>
          <p:nvPr/>
        </p:nvPicPr>
        <p:blipFill>
          <a:blip r:embed="rId5"/>
          <a:stretch/>
        </p:blipFill>
        <p:spPr>
          <a:xfrm>
            <a:off x="10260720" y="1418040"/>
            <a:ext cx="1670040" cy="1670040"/>
          </a:xfrm>
          <a:prstGeom prst="rect">
            <a:avLst/>
          </a:prstGeom>
          <a:ln w="0">
            <a:noFill/>
          </a:ln>
        </p:spPr>
      </p:pic>
      <p:pic>
        <p:nvPicPr>
          <p:cNvPr id="103" name="Imagen 13"/>
          <p:cNvPicPr/>
          <p:nvPr/>
        </p:nvPicPr>
        <p:blipFill>
          <a:blip r:embed="rId6"/>
          <a:stretch/>
        </p:blipFill>
        <p:spPr>
          <a:xfrm>
            <a:off x="7336800" y="3622680"/>
            <a:ext cx="2504880" cy="1352520"/>
          </a:xfrm>
          <a:prstGeom prst="rect">
            <a:avLst/>
          </a:prstGeom>
          <a:ln w="0">
            <a:noFill/>
          </a:ln>
        </p:spPr>
      </p:pic>
      <p:pic>
        <p:nvPicPr>
          <p:cNvPr id="104" name="Imagen 15"/>
          <p:cNvPicPr/>
          <p:nvPr/>
        </p:nvPicPr>
        <p:blipFill>
          <a:blip r:embed="rId7"/>
          <a:stretch/>
        </p:blipFill>
        <p:spPr>
          <a:xfrm>
            <a:off x="10184400" y="4975560"/>
            <a:ext cx="1531440" cy="1531440"/>
          </a:xfrm>
          <a:prstGeom prst="rect">
            <a:avLst/>
          </a:prstGeom>
          <a:ln w="0">
            <a:noFill/>
          </a:ln>
        </p:spPr>
      </p:pic>
      <p:pic>
        <p:nvPicPr>
          <p:cNvPr id="105" name="Imagen 17"/>
          <p:cNvPicPr/>
          <p:nvPr/>
        </p:nvPicPr>
        <p:blipFill>
          <a:blip r:embed="rId8"/>
          <a:stretch/>
        </p:blipFill>
        <p:spPr>
          <a:xfrm>
            <a:off x="8350920" y="5086800"/>
            <a:ext cx="1334880" cy="1334880"/>
          </a:xfrm>
          <a:prstGeom prst="rect">
            <a:avLst/>
          </a:prstGeom>
          <a:ln w="0">
            <a:noFill/>
          </a:ln>
        </p:spPr>
      </p:pic>
      <p:sp>
        <p:nvSpPr>
          <p:cNvPr id="106" name="Marcador de texto 2"/>
          <p:cNvSpPr/>
          <p:nvPr/>
        </p:nvSpPr>
        <p:spPr>
          <a:xfrm>
            <a:off x="257760" y="1026720"/>
            <a:ext cx="7227000" cy="167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400" b="1" strike="noStrike" spc="-1">
                <a:solidFill>
                  <a:srgbClr val="00B0F0"/>
                </a:solidFill>
                <a:latin typeface="Corbel"/>
              </a:rPr>
              <a:t>David Corredor Miguel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000" b="1" u="sng" strike="noStrike" spc="-1">
                <a:solidFill>
                  <a:srgbClr val="F59E00"/>
                </a:solidFill>
                <a:uFillTx/>
                <a:latin typeface="Corbel"/>
                <a:hlinkClick r:id="rId9"/>
              </a:rPr>
              <a:t>https://es.linkedin.com/in/david-corredor-miguel-7b057624a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000" b="1" u="sng" strike="noStrike" spc="-1">
                <a:solidFill>
                  <a:srgbClr val="F59E00"/>
                </a:solidFill>
                <a:uFillTx/>
                <a:latin typeface="Corbel"/>
                <a:hlinkClick r:id="rId10"/>
              </a:rPr>
              <a:t>https://github.com/DavidCorredorMiguel?tab=repositories</a:t>
            </a:r>
            <a:r>
              <a:rPr lang="es-ES" sz="2000" b="1" strike="noStrike" spc="-1">
                <a:solidFill>
                  <a:srgbClr val="00B0F0"/>
                </a:solidFill>
                <a:latin typeface="Corbel"/>
              </a:rPr>
              <a:t> 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Imagen 8"/>
          <p:cNvPicPr/>
          <p:nvPr/>
        </p:nvPicPr>
        <p:blipFill>
          <a:blip r:embed="rId11"/>
          <a:stretch/>
        </p:blipFill>
        <p:spPr>
          <a:xfrm>
            <a:off x="3984120" y="4894200"/>
            <a:ext cx="3009600" cy="1523520"/>
          </a:xfrm>
          <a:prstGeom prst="rect">
            <a:avLst/>
          </a:prstGeom>
          <a:ln w="0">
            <a:noFill/>
          </a:ln>
        </p:spPr>
      </p:pic>
      <p:pic>
        <p:nvPicPr>
          <p:cNvPr id="108" name="Imagen 10"/>
          <p:cNvPicPr/>
          <p:nvPr/>
        </p:nvPicPr>
        <p:blipFill>
          <a:blip r:embed="rId12"/>
          <a:stretch/>
        </p:blipFill>
        <p:spPr>
          <a:xfrm>
            <a:off x="1999800" y="5130360"/>
            <a:ext cx="1473480" cy="1276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-254880" y="50760"/>
            <a:ext cx="8792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3200" b="1" u="sng" strike="noStrike" spc="-1">
                <a:solidFill>
                  <a:srgbClr val="00B0F0"/>
                </a:solidFill>
                <a:uFillTx/>
                <a:latin typeface="Corbel"/>
              </a:rPr>
              <a:t>Redes, Git y Tecnologías Dominadas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10" name="Marcador de texto 2"/>
          <p:cNvSpPr/>
          <p:nvPr/>
        </p:nvSpPr>
        <p:spPr>
          <a:xfrm>
            <a:off x="269280" y="756720"/>
            <a:ext cx="11250720" cy="15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400" b="1" strike="noStrike" spc="-1">
                <a:solidFill>
                  <a:srgbClr val="00B0F0"/>
                </a:solidFill>
                <a:latin typeface="Corbel"/>
              </a:rPr>
              <a:t>Noelia Alafarga Payá – Desarrolladora fullstack – IA – Big Data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s-ES" sz="1800" b="0" strike="noStrike" spc="-1">
                <a:solidFill>
                  <a:srgbClr val="F59E00"/>
                </a:solidFill>
                <a:latin typeface="Corbel"/>
              </a:rPr>
              <a:t>Linkedin: </a:t>
            </a:r>
            <a:r>
              <a:rPr lang="es-ES" sz="1800" b="1" u="sng" strike="noStrike" spc="-1">
                <a:solidFill>
                  <a:srgbClr val="F59E00"/>
                </a:solidFill>
                <a:uFillTx/>
                <a:latin typeface="Corbel"/>
                <a:hlinkClick r:id="rId2"/>
              </a:rPr>
              <a:t>https://es.linkedin.com/in/noelia-alafarga-backend</a:t>
            </a: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1800" b="0" strike="noStrike" spc="-1">
                <a:solidFill>
                  <a:schemeClr val="accent1"/>
                </a:solidFill>
                <a:latin typeface="Corbel"/>
              </a:rPr>
              <a:t>GitHub: </a:t>
            </a:r>
            <a:r>
              <a:rPr lang="es-ES" sz="1600" b="1" u="sng" strike="noStrike" spc="-1">
                <a:solidFill>
                  <a:schemeClr val="accent1"/>
                </a:solidFill>
                <a:uFillTx/>
                <a:latin typeface="Corbel"/>
                <a:hlinkClick r:id="rId3"/>
              </a:rPr>
              <a:t>https://github.com/noelianikolatesla?tab=repositories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CuadroTexto 110"/>
          <p:cNvSpPr txBox="1"/>
          <p:nvPr/>
        </p:nvSpPr>
        <p:spPr>
          <a:xfrm>
            <a:off x="5220000" y="2340000"/>
            <a:ext cx="5580000" cy="2075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☁️ Cloud &amp; Infraestructura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AWS · Firebase · Nginx</a:t>
            </a:r>
          </a:p>
          <a:p>
            <a:endParaRPr lang="es-ES" sz="10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🤖 IA / Big Data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NumPy · Pandas · Scikit-learn · TensorFlow · Matplotlib · AWS Bedrock</a:t>
            </a:r>
          </a:p>
          <a:p>
            <a:endParaRPr lang="es-ES" sz="10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⚙️ Herramientas &amp; DevOps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Git · GitHub · Docker · VS Code · IntelliJ IDEA · Jira · Confluence</a:t>
            </a:r>
          </a:p>
        </p:txBody>
      </p:sp>
      <p:sp>
        <p:nvSpPr>
          <p:cNvPr id="112" name="CuadroTexto 111"/>
          <p:cNvSpPr txBox="1"/>
          <p:nvPr/>
        </p:nvSpPr>
        <p:spPr>
          <a:xfrm>
            <a:off x="360000" y="2340000"/>
            <a:ext cx="4500000" cy="2075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🔧 Backend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PHP · Laravel · Java · Python</a:t>
            </a:r>
          </a:p>
          <a:p>
            <a:endParaRPr lang="es-ES" sz="10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🎨 Frontend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JavaScript · Vue.js · React · Bootstrap · Tailwind CSS</a:t>
            </a:r>
          </a:p>
          <a:p>
            <a:endParaRPr lang="es-ES" sz="10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600" b="1" strike="noStrike" spc="-1">
                <a:solidFill>
                  <a:srgbClr val="000000"/>
                </a:solidFill>
                <a:latin typeface="Arial"/>
              </a:rPr>
              <a:t>🗄️ Bases de Datos</a:t>
            </a:r>
            <a:endParaRPr lang="es-ES" sz="1600" b="0" strike="noStrike" spc="-1">
              <a:solidFill>
                <a:srgbClr val="000000"/>
              </a:solidFill>
              <a:latin typeface="Arial"/>
            </a:endParaRPr>
          </a:p>
          <a:p>
            <a:endParaRPr lang="es-ES" sz="1200" b="0" strike="noStrike" spc="-1">
              <a:solidFill>
                <a:srgbClr val="000000"/>
              </a:solidFill>
              <a:latin typeface="Arial"/>
            </a:endParaRPr>
          </a:p>
          <a:p>
            <a:r>
              <a:rPr lang="es-ES" sz="1200" b="0" strike="noStrike" spc="-1">
                <a:solidFill>
                  <a:srgbClr val="000000"/>
                </a:solidFill>
                <a:latin typeface="Arial"/>
              </a:rPr>
              <a:t>MySQL · Oracle · MongoDB · Apache Cassandra · Hadoop</a:t>
            </a:r>
          </a:p>
        </p:txBody>
      </p:sp>
      <p:pic>
        <p:nvPicPr>
          <p:cNvPr id="113" name="Imagen 112"/>
          <p:cNvPicPr/>
          <p:nvPr/>
        </p:nvPicPr>
        <p:blipFill>
          <a:blip r:embed="rId4"/>
          <a:stretch/>
        </p:blipFill>
        <p:spPr>
          <a:xfrm>
            <a:off x="360000" y="5290041"/>
            <a:ext cx="7020000" cy="699120"/>
          </a:xfrm>
          <a:prstGeom prst="rect">
            <a:avLst/>
          </a:prstGeom>
          <a:ln w="0">
            <a:noFill/>
          </a:ln>
        </p:spPr>
      </p:pic>
      <p:pic>
        <p:nvPicPr>
          <p:cNvPr id="114" name="Imagen 113"/>
          <p:cNvPicPr/>
          <p:nvPr/>
        </p:nvPicPr>
        <p:blipFill>
          <a:blip r:embed="rId5"/>
          <a:stretch/>
        </p:blipFill>
        <p:spPr>
          <a:xfrm>
            <a:off x="1440000" y="5925960"/>
            <a:ext cx="8199360" cy="581400"/>
          </a:xfrm>
          <a:prstGeom prst="rect">
            <a:avLst/>
          </a:prstGeom>
          <a:ln w="0">
            <a:noFill/>
          </a:ln>
        </p:spPr>
      </p:pic>
      <p:pic>
        <p:nvPicPr>
          <p:cNvPr id="115" name="Imagen 114"/>
          <p:cNvPicPr/>
          <p:nvPr/>
        </p:nvPicPr>
        <p:blipFill>
          <a:blip r:embed="rId6"/>
          <a:stretch/>
        </p:blipFill>
        <p:spPr>
          <a:xfrm>
            <a:off x="679548" y="4558348"/>
            <a:ext cx="10119420" cy="728193"/>
          </a:xfrm>
          <a:prstGeom prst="rect">
            <a:avLst/>
          </a:prstGeom>
          <a:ln w="0">
            <a:noFill/>
          </a:ln>
        </p:spPr>
      </p:pic>
      <p:pic>
        <p:nvPicPr>
          <p:cNvPr id="116" name="Imagen 115"/>
          <p:cNvPicPr/>
          <p:nvPr/>
        </p:nvPicPr>
        <p:blipFill>
          <a:blip r:embed="rId7"/>
          <a:srcRect r="37576" b="19486"/>
          <a:stretch/>
        </p:blipFill>
        <p:spPr>
          <a:xfrm>
            <a:off x="7380000" y="5237928"/>
            <a:ext cx="3960000" cy="743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653256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3740" lnSpcReduction="20000"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3200" b="1" u="sng" strike="noStrike" spc="-1">
                <a:solidFill>
                  <a:srgbClr val="00B0F0"/>
                </a:solidFill>
                <a:uFillTx/>
                <a:latin typeface="Corbel"/>
              </a:rPr>
              <a:t>Redes, Git y Tecnologías Dominadas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257760" y="1026720"/>
            <a:ext cx="7293600" cy="118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400" b="1" strike="noStrike" spc="-1">
                <a:solidFill>
                  <a:srgbClr val="00B0F0"/>
                </a:solidFill>
                <a:latin typeface="Corbel"/>
              </a:rPr>
              <a:t>Ivan Goded Carrete</a:t>
            </a:r>
            <a:endParaRPr lang="en-US" sz="2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000" b="1" u="sng" strike="noStrike" spc="-1">
                <a:solidFill>
                  <a:schemeClr val="accent1"/>
                </a:solidFill>
                <a:uFillTx/>
                <a:latin typeface="Corbel"/>
                <a:hlinkClick r:id="rId2"/>
              </a:rPr>
              <a:t>https://github.com/ivangc1?tab=repositories</a:t>
            </a:r>
            <a:endParaRPr lang="en-US" sz="2000" b="0" strike="noStrike" spc="-1">
              <a:solidFill>
                <a:schemeClr val="accent1"/>
              </a:solidFill>
              <a:latin typeface="Corbel"/>
            </a:endParaRPr>
          </a:p>
        </p:txBody>
      </p:sp>
      <p:pic>
        <p:nvPicPr>
          <p:cNvPr id="119" name="Imagen 4"/>
          <p:cNvPicPr/>
          <p:nvPr/>
        </p:nvPicPr>
        <p:blipFill>
          <a:blip r:embed="rId3"/>
          <a:stretch/>
        </p:blipFill>
        <p:spPr>
          <a:xfrm>
            <a:off x="7956360" y="235080"/>
            <a:ext cx="3977640" cy="1583280"/>
          </a:xfrm>
          <a:prstGeom prst="rect">
            <a:avLst/>
          </a:prstGeom>
          <a:ln w="0">
            <a:noFill/>
          </a:ln>
        </p:spPr>
      </p:pic>
      <p:pic>
        <p:nvPicPr>
          <p:cNvPr id="120" name="Imagen 7"/>
          <p:cNvPicPr/>
          <p:nvPr/>
        </p:nvPicPr>
        <p:blipFill>
          <a:blip r:embed="rId4"/>
          <a:stretch/>
        </p:blipFill>
        <p:spPr>
          <a:xfrm>
            <a:off x="8830440" y="1919880"/>
            <a:ext cx="1338840" cy="1338840"/>
          </a:xfrm>
          <a:prstGeom prst="rect">
            <a:avLst/>
          </a:prstGeom>
          <a:ln w="0">
            <a:noFill/>
          </a:ln>
        </p:spPr>
      </p:pic>
      <p:pic>
        <p:nvPicPr>
          <p:cNvPr id="121" name="Imagen 9"/>
          <p:cNvPicPr/>
          <p:nvPr/>
        </p:nvPicPr>
        <p:blipFill>
          <a:blip r:embed="rId5"/>
          <a:stretch/>
        </p:blipFill>
        <p:spPr>
          <a:xfrm>
            <a:off x="10319040" y="3171600"/>
            <a:ext cx="1583280" cy="1583280"/>
          </a:xfrm>
          <a:prstGeom prst="rect">
            <a:avLst/>
          </a:prstGeom>
          <a:ln w="0">
            <a:noFill/>
          </a:ln>
        </p:spPr>
      </p:pic>
      <p:pic>
        <p:nvPicPr>
          <p:cNvPr id="122" name="Imagen 11"/>
          <p:cNvPicPr/>
          <p:nvPr/>
        </p:nvPicPr>
        <p:blipFill>
          <a:blip r:embed="rId6"/>
          <a:stretch/>
        </p:blipFill>
        <p:spPr>
          <a:xfrm>
            <a:off x="10260720" y="1418040"/>
            <a:ext cx="1670040" cy="16700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653256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3740" lnSpcReduction="20000"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3200" b="1" u="sng" strike="noStrike" spc="-1">
                <a:solidFill>
                  <a:srgbClr val="00B0F0"/>
                </a:solidFill>
                <a:uFillTx/>
                <a:latin typeface="Corbel"/>
              </a:rPr>
              <a:t>Redes, Git y Tecnologías Dominadas</a:t>
            </a:r>
            <a:endParaRPr lang="en-US" sz="3200" b="0" strike="noStrike" spc="-1">
              <a:solidFill>
                <a:schemeClr val="dk1"/>
              </a:solidFill>
              <a:latin typeface="Corbel"/>
            </a:endParaRPr>
          </a:p>
        </p:txBody>
      </p:sp>
      <p:pic>
        <p:nvPicPr>
          <p:cNvPr id="124" name="Imagen 4"/>
          <p:cNvPicPr/>
          <p:nvPr/>
        </p:nvPicPr>
        <p:blipFill>
          <a:blip r:embed="rId2"/>
          <a:stretch/>
        </p:blipFill>
        <p:spPr>
          <a:xfrm>
            <a:off x="7956360" y="235080"/>
            <a:ext cx="3977640" cy="1583280"/>
          </a:xfrm>
          <a:prstGeom prst="rect">
            <a:avLst/>
          </a:prstGeom>
          <a:ln w="0">
            <a:noFill/>
          </a:ln>
        </p:spPr>
      </p:pic>
      <p:pic>
        <p:nvPicPr>
          <p:cNvPr id="125" name="Imagen 7"/>
          <p:cNvPicPr/>
          <p:nvPr/>
        </p:nvPicPr>
        <p:blipFill>
          <a:blip r:embed="rId3"/>
          <a:stretch/>
        </p:blipFill>
        <p:spPr>
          <a:xfrm>
            <a:off x="8830440" y="1919880"/>
            <a:ext cx="1338840" cy="1338840"/>
          </a:xfrm>
          <a:prstGeom prst="rect">
            <a:avLst/>
          </a:prstGeom>
          <a:ln w="0">
            <a:noFill/>
          </a:ln>
        </p:spPr>
      </p:pic>
      <p:pic>
        <p:nvPicPr>
          <p:cNvPr id="126" name="Imagen 9"/>
          <p:cNvPicPr/>
          <p:nvPr/>
        </p:nvPicPr>
        <p:blipFill>
          <a:blip r:embed="rId4"/>
          <a:stretch/>
        </p:blipFill>
        <p:spPr>
          <a:xfrm>
            <a:off x="10319040" y="3171600"/>
            <a:ext cx="1583280" cy="1583280"/>
          </a:xfrm>
          <a:prstGeom prst="rect">
            <a:avLst/>
          </a:prstGeom>
          <a:ln w="0">
            <a:noFill/>
          </a:ln>
        </p:spPr>
      </p:pic>
      <p:pic>
        <p:nvPicPr>
          <p:cNvPr id="127" name="Imagen 11"/>
          <p:cNvPicPr/>
          <p:nvPr/>
        </p:nvPicPr>
        <p:blipFill>
          <a:blip r:embed="rId5"/>
          <a:stretch/>
        </p:blipFill>
        <p:spPr>
          <a:xfrm>
            <a:off x="10260720" y="1418040"/>
            <a:ext cx="1670040" cy="1670040"/>
          </a:xfrm>
          <a:prstGeom prst="rect">
            <a:avLst/>
          </a:prstGeom>
          <a:ln w="0">
            <a:noFill/>
          </a:ln>
        </p:spPr>
      </p:pic>
      <p:pic>
        <p:nvPicPr>
          <p:cNvPr id="128" name="Imagen 13"/>
          <p:cNvPicPr/>
          <p:nvPr/>
        </p:nvPicPr>
        <p:blipFill>
          <a:blip r:embed="rId6"/>
          <a:stretch/>
        </p:blipFill>
        <p:spPr>
          <a:xfrm>
            <a:off x="7336800" y="3622680"/>
            <a:ext cx="2504880" cy="1352520"/>
          </a:xfrm>
          <a:prstGeom prst="rect">
            <a:avLst/>
          </a:prstGeom>
          <a:ln w="0">
            <a:noFill/>
          </a:ln>
        </p:spPr>
      </p:pic>
      <p:sp>
        <p:nvSpPr>
          <p:cNvPr id="129" name="Marcador de texto 2"/>
          <p:cNvSpPr/>
          <p:nvPr/>
        </p:nvSpPr>
        <p:spPr>
          <a:xfrm>
            <a:off x="257760" y="1074600"/>
            <a:ext cx="6925680" cy="167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400" b="1" strike="noStrike" spc="-1">
                <a:solidFill>
                  <a:srgbClr val="00B0F0"/>
                </a:solidFill>
                <a:latin typeface="Corbel"/>
              </a:rPr>
              <a:t>Iker Martínez Velasco</a:t>
            </a:r>
            <a:endParaRPr lang="es-ES" sz="24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000" b="1" u="sng" strike="noStrike" spc="-1">
                <a:solidFill>
                  <a:schemeClr val="accent1"/>
                </a:solidFill>
                <a:uFillTx/>
                <a:latin typeface="Corbel"/>
                <a:hlinkClick r:id="rId7"/>
              </a:rPr>
              <a:t>https://es.linkedin.com/in/iker-martinez-dev/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00"/>
              </a:spcBef>
              <a:tabLst>
                <a:tab pos="0" algn="l"/>
              </a:tabLst>
            </a:pPr>
            <a:r>
              <a:rPr lang="es-ES" sz="2000" b="1" u="sng" strike="noStrike" spc="-1">
                <a:solidFill>
                  <a:schemeClr val="accent1"/>
                </a:solidFill>
                <a:uFillTx/>
                <a:latin typeface="Corbel"/>
                <a:hlinkClick r:id="rId8"/>
              </a:rPr>
              <a:t>https://github.com/moimenta84?tab=repositories</a:t>
            </a:r>
            <a:endParaRPr lang="es-E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Imagen 6"/>
          <p:cNvPicPr/>
          <p:nvPr/>
        </p:nvPicPr>
        <p:blipFill>
          <a:blip r:embed="rId9"/>
          <a:stretch/>
        </p:blipFill>
        <p:spPr>
          <a:xfrm>
            <a:off x="8336880" y="4975560"/>
            <a:ext cx="3009600" cy="1523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Descripción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818856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325" lnSpcReduction="10000"/>
          </a:bodyPr>
          <a:lstStyle/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Nuestra app de </a:t>
            </a:r>
            <a:r>
              <a:rPr lang="es-ES" sz="2800" b="1" strike="noStrike" spc="-1" dirty="0" err="1">
                <a:solidFill>
                  <a:srgbClr val="00B0F0"/>
                </a:solidFill>
                <a:latin typeface="Corbel"/>
              </a:rPr>
              <a:t>React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es una tienda que reúne 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diferentes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tipos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de tecnologías, desde electrodomésticos, informática, sonido, hogar, etc.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Además, te permite aprender sobre tecnologías con tarjetas de aprendizaje que puede crear el usuario. 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Puede buscar productos y filtrar por categoría. Añadir comentarios y valoraciones de productos.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Tanto para comprar, comentar, valorar y crear tarjetas de aprendizaje el usuario debe estar registrado. </a:t>
            </a:r>
          </a:p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b="1" spc="-1" dirty="0">
                <a:solidFill>
                  <a:srgbClr val="00B0F0"/>
                </a:solidFill>
                <a:latin typeface="Corbel"/>
              </a:rPr>
              <a:t>Se ofrece un servicio de </a:t>
            </a:r>
            <a:r>
              <a:rPr lang="es-ES" b="1" spc="-1" dirty="0" err="1">
                <a:solidFill>
                  <a:srgbClr val="00B0F0"/>
                </a:solidFill>
                <a:latin typeface="Corbel"/>
              </a:rPr>
              <a:t>Chatbot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 con inteligencia artificial para dudas en el momento de la compra y servicio postventa.</a:t>
            </a:r>
          </a:p>
        </p:txBody>
      </p:sp>
      <p:pic>
        <p:nvPicPr>
          <p:cNvPr id="133" name="Imagen 5"/>
          <p:cNvPicPr/>
          <p:nvPr/>
        </p:nvPicPr>
        <p:blipFill>
          <a:blip r:embed="rId2"/>
          <a:stretch/>
        </p:blipFill>
        <p:spPr>
          <a:xfrm>
            <a:off x="7266600" y="1643400"/>
            <a:ext cx="4925160" cy="4925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0F80-EA78-7BC7-9F9C-13DBF48D2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>
            <a:extLst>
              <a:ext uri="{FF2B5EF4-FFF2-40B4-BE49-F238E27FC236}">
                <a16:creationId xmlns:a16="http://schemas.microsoft.com/office/drawing/2014/main" id="{864AA5EB-9F14-C8B3-A349-8A4F37F26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pc="-1" dirty="0">
                <a:solidFill>
                  <a:srgbClr val="00B0F0"/>
                </a:solidFill>
                <a:latin typeface="Corbel"/>
              </a:rPr>
              <a:t>MVP</a:t>
            </a:r>
            <a:endParaRPr lang="es-ES" sz="4000" b="1" u="sng" strike="noStrike" spc="-1" dirty="0">
              <a:solidFill>
                <a:srgbClr val="00B0F0"/>
              </a:solidFill>
              <a:latin typeface="Corbel"/>
            </a:endParaRPr>
          </a:p>
        </p:txBody>
      </p:sp>
      <p:sp>
        <p:nvSpPr>
          <p:cNvPr id="132" name="PlaceHolder 2">
            <a:extLst>
              <a:ext uri="{FF2B5EF4-FFF2-40B4-BE49-F238E27FC236}">
                <a16:creationId xmlns:a16="http://schemas.microsoft.com/office/drawing/2014/main" id="{E69E1813-5D2D-DD33-8E6E-5A28638F8CE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57760" y="1074600"/>
            <a:ext cx="818856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325"/>
          </a:bodyPr>
          <a:lstStyle/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b="1" spc="-1" dirty="0">
                <a:solidFill>
                  <a:srgbClr val="00B0F0"/>
                </a:solidFill>
                <a:latin typeface="Corbel"/>
              </a:rPr>
              <a:t>Tiene que tener una tienda con sus productos, carrito de compra, filtrado.</a:t>
            </a:r>
            <a:endParaRPr lang="es-ES" dirty="0">
              <a:solidFill>
                <a:srgbClr val="000000"/>
              </a:solidFill>
              <a:latin typeface="Corbel"/>
            </a:endParaRPr>
          </a:p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b="1" spc="-1" dirty="0">
                <a:solidFill>
                  <a:srgbClr val="00B0F0"/>
                </a:solidFill>
              </a:rPr>
              <a:t>Además hemos podido añadir </a:t>
            </a:r>
            <a:r>
              <a:rPr lang="es-ES" b="1" spc="-1" dirty="0" err="1">
                <a:solidFill>
                  <a:srgbClr val="00B0F0"/>
                </a:solidFill>
              </a:rPr>
              <a:t>Chatbot</a:t>
            </a:r>
            <a:r>
              <a:rPr lang="es-ES" b="1" spc="-1" dirty="0">
                <a:solidFill>
                  <a:srgbClr val="00B0F0"/>
                </a:solidFill>
              </a:rPr>
              <a:t> IA, tema claro/oscuro, página responsiva, la paginación, los más vistos en la página principal y en detalle productos al final añadir más productos relacionados por categoría, diseño del logo.</a:t>
            </a:r>
          </a:p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b="1" spc="-1" dirty="0">
                <a:solidFill>
                  <a:srgbClr val="00B0F0"/>
                </a:solidFill>
                <a:latin typeface="Corbel"/>
              </a:rPr>
              <a:t>Con estas tecnologías </a:t>
            </a:r>
            <a:r>
              <a:rPr lang="es-ES" b="1" spc="-1" dirty="0" err="1">
                <a:solidFill>
                  <a:srgbClr val="00B0F0"/>
                </a:solidFill>
                <a:latin typeface="Corbel"/>
              </a:rPr>
              <a:t>React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, CSS, </a:t>
            </a:r>
            <a:r>
              <a:rPr lang="es-ES" b="1" spc="-1" dirty="0" err="1">
                <a:solidFill>
                  <a:srgbClr val="00B0F0"/>
                </a:solidFill>
                <a:latin typeface="Corbel"/>
              </a:rPr>
              <a:t>Javascript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, </a:t>
            </a:r>
            <a:r>
              <a:rPr lang="es-ES" b="1" spc="-1" dirty="0" err="1">
                <a:solidFill>
                  <a:srgbClr val="00B0F0"/>
                </a:solidFill>
                <a:latin typeface="Corbel"/>
              </a:rPr>
              <a:t>Node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, AWS </a:t>
            </a:r>
            <a:r>
              <a:rPr lang="es-ES" b="1" spc="-1" dirty="0" err="1">
                <a:solidFill>
                  <a:srgbClr val="00B0F0"/>
                </a:solidFill>
                <a:latin typeface="Corbel"/>
              </a:rPr>
              <a:t>Bedrock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.</a:t>
            </a:r>
          </a:p>
        </p:txBody>
      </p:sp>
      <p:pic>
        <p:nvPicPr>
          <p:cNvPr id="133" name="Imagen 5">
            <a:extLst>
              <a:ext uri="{FF2B5EF4-FFF2-40B4-BE49-F238E27FC236}">
                <a16:creationId xmlns:a16="http://schemas.microsoft.com/office/drawing/2014/main" id="{6DFBDECE-EB5E-EBE7-218F-2398EDF2CEB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66600" y="1643400"/>
            <a:ext cx="4925160" cy="492516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277457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0" y="2787120"/>
            <a:ext cx="295956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Boceto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pic>
        <p:nvPicPr>
          <p:cNvPr id="136" name="Imagen 4"/>
          <p:cNvPicPr/>
          <p:nvPr/>
        </p:nvPicPr>
        <p:blipFill>
          <a:blip r:embed="rId2"/>
          <a:stretch/>
        </p:blipFill>
        <p:spPr>
          <a:xfrm>
            <a:off x="2777400" y="289080"/>
            <a:ext cx="9207000" cy="62794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Estudio de Tiendas Online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325"/>
          </a:bodyPr>
          <a:lstStyle/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u="sng" strike="noStrike" spc="-1" dirty="0" err="1">
                <a:solidFill>
                  <a:srgbClr val="00B0F0"/>
                </a:solidFill>
                <a:uFillTx/>
                <a:latin typeface="Corbel"/>
              </a:rPr>
              <a:t>Mediamarkt</a:t>
            </a:r>
            <a:endParaRPr lang="en-US" sz="2800" b="0" strike="noStrike" spc="-1" dirty="0" err="1">
              <a:solidFill>
                <a:schemeClr val="accent1"/>
              </a:solidFill>
              <a:latin typeface="Corbel"/>
            </a:endParaRPr>
          </a:p>
          <a:p>
            <a:pPr indent="0"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Hemos analizado las interfaces principales de la tienda online </a:t>
            </a:r>
            <a:r>
              <a:rPr lang="es-ES" sz="2800" b="1" strike="noStrike" spc="-1" dirty="0" err="1">
                <a:solidFill>
                  <a:srgbClr val="00B0F0"/>
                </a:solidFill>
                <a:latin typeface="Corbel"/>
              </a:rPr>
              <a:t>MediaMarkt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como referencia para el diseño de una tienda de electrodomésticos propia. Es uno de los e-</a:t>
            </a:r>
            <a:r>
              <a:rPr lang="es-ES" sz="2800" b="1" strike="noStrike" spc="-1" dirty="0" err="1">
                <a:solidFill>
                  <a:srgbClr val="00B0F0"/>
                </a:solidFill>
                <a:latin typeface="Corbel"/>
              </a:rPr>
              <a:t>commerce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lideres en venta de tecnología y electrodomésticos en España, por lo que su estructura, experiencia de usuario y elementos visuales resultan una guía útil para identificar buenas 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prácticas,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oportunidades de mejora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 y llegar al público que no sabe del producto llegue a comprar y que sea más amigable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.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El análisis se centra en las siguientes pantallas clave del recorrido de compra: - Home o </a:t>
            </a:r>
            <a:r>
              <a:rPr lang="es-ES" b="1" spc="-1" dirty="0">
                <a:solidFill>
                  <a:srgbClr val="00B0F0"/>
                </a:solidFill>
                <a:latin typeface="Corbel"/>
              </a:rPr>
              <a:t>página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principal - Pagina de categoría - Resultados de búsqueda - Ficha de producto - Carrito y proceso de compra - </a:t>
            </a:r>
            <a:r>
              <a:rPr lang="es-ES" sz="2800" b="1" strike="noStrike" spc="-1" dirty="0" err="1">
                <a:solidFill>
                  <a:srgbClr val="00B0F0"/>
                </a:solidFill>
                <a:latin typeface="Corbel"/>
              </a:rPr>
              <a:t>Area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de usuario y postventa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Mas </a:t>
            </a:r>
            <a:r>
              <a:rPr lang="es-ES" sz="2800" b="1" strike="noStrike" spc="-1" dirty="0" err="1">
                <a:solidFill>
                  <a:srgbClr val="00B0F0"/>
                </a:solidFill>
                <a:latin typeface="Corbel"/>
              </a:rPr>
              <a:t>info</a:t>
            </a:r>
            <a:r>
              <a:rPr lang="es-ES" sz="2800" b="1" strike="noStrike" spc="-1" dirty="0">
                <a:solidFill>
                  <a:srgbClr val="00B0F0"/>
                </a:solidFill>
                <a:latin typeface="Corbel"/>
              </a:rPr>
              <a:t> en: Estudio Mediamarkt.docx</a:t>
            </a:r>
            <a:endParaRPr lang="en-US" sz="2800" b="0" strike="noStrike" spc="-1" dirty="0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Estudio de Tiendas Online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u="sng" strike="noStrike" spc="-1">
                <a:solidFill>
                  <a:srgbClr val="00B0F0"/>
                </a:solidFill>
                <a:uFillTx/>
                <a:latin typeface="Corbel"/>
              </a:rPr>
              <a:t>Amazon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Hemos analizado las interfaces principales de la tienda online Amazon como referencia para el diseño de una tienda de electrodomésticos propia. Es uno de los e-commerce lideres en venta online, por lo que su estructura, experiencia de usuario y elementos visuales resultan una guía útil para identificar buenas practicas y oportunidades de mejora.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El análisis se centra en las siguientes pantallas clave del recorrido de compra: - Home o pagina principal - Pagina de categoría - Resultados de búsqueda - Ficha de producto - Carrito y proceso de compra - Area de usuario y postventa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Mas info en: Estudio Amazon.docx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Home (Inicio)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es la de Inicio aparece si ha iniciado sesión el Nombre de Usuario. Al pulsar Cerrar Sesión cierra la sesión y vuelve a aparecer el botón Login. Al pulsar Login te lleva a la pagina de Login (Iniciar Sesión).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Además, aparece en el menu superior el logo (te lleva a esta misma página), una barra de búsqueda para buscar en producto en la tienda y las diferentes páginas. En el centro una lista con los productos destacados. Y en el menu inferior el logo (te lleva a esta misma página), las diferentes páginas y el copyright.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Home (Inicio)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16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Login (Iniciar Sesión)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es para Iniciar Sesión poniendo el Email y Contraseña. Al pulsar Iniciar Sesión te lleva a Home (Inicio) con la sesión iniciada.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Crear Usuario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es para Crear Usuario poniendo el Nombre de Usuario, Email y Contraseña. Al pulsar Registrarse crea el usuario.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Recordar Contraseña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es para Recordar Contraseña poniendo el Email y la Contraseña dos veces. Al pulsar Cambiar Contraseña la cambia e inicia sesión.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Productos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todos los productos con nombre, precio e imagen. Al pulsar Añadir con la sesión iniciada se te añade a Cesta.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Detalles Producto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los detalles del producto (nombre, descripcion corta y larga, precio, imagen, características, galería de imágenes, comentarios y valoraciones). Al pulsar Añadir con la sesión iniciada se te añade a Cesta.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Cesta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los productos añadidos (nombre, precio, imagen, cantidad, total y subtotal). Al pulsar Continuar con la sesión iniciada te lleva a Tarjetas de Pago.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Tarjetas de Pago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las Tarjetas de Pago añadidas (nombre de usuario, fecha de caducidad, CCV). Al pulsar Añadir/Editar con la sesión iniciada te lleva a Editar Tarjetas de Pago. Al pulsar Continuar con la sesión iniciada te lleva a Finalizar Compra.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Editar Tarjetas de Pago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permite añadir o editar las Tarjetas de Pago (nombre de usuario, fecha de caducidad, CCV). Al pulsar Añadir/Editar con la sesión iniciada te lleva a Tarjetas de Pago. 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Finalizar Compra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los productos de la Cesta (nombre, precio, imagen, cantidad, total, subtotal y numero tarjeta de pago). Al pulsar Finalizar con la sesión iniciada te crea la factura.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Tarjetas de Aprender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tiene las Tarjetas de Aprender añadidas (nombre de usuario, tipo, pregunta, respuestas). Al pulsar Añadir/Editar con la sesión iniciada te lleva a Editar Tarjetas de Aprender. 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Editar Tarjetas de Aprender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Esta pagina permite añadir o editar las Tarjetas de Aprender (nombre de usuario, tipo, pregunta, respuestas). Al pulsar Añadir/Editar con la sesión iniciada te lleva a Tarjetas de Aprender. 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Funcionamiento del ChatBot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7576"/>
          </a:bodyPr>
          <a:lstStyle/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</a:pPr>
            <a:r>
              <a:rPr lang="es-ES" sz="3200" b="0" strike="noStrike" spc="-1">
                <a:solidFill>
                  <a:schemeClr val="dk1"/>
                </a:solidFill>
                <a:latin typeface="Calibri"/>
              </a:rPr>
              <a:t>Flujo Frontend – Backend – IA</a:t>
            </a:r>
            <a:endParaRPr lang="en-US" sz="3200" b="0" strike="noStrike" spc="-1">
              <a:solidFill>
                <a:schemeClr val="accent1"/>
              </a:solidFill>
              <a:latin typeface="Corbe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</a:pPr>
            <a:r>
              <a:rPr lang="es-ES" sz="3200" b="0" strike="noStrike" spc="-1">
                <a:solidFill>
                  <a:schemeClr val="dk1"/>
                </a:solidFill>
                <a:latin typeface="Calibri"/>
              </a:rPr>
              <a:t>Arquitectura y codigo</a:t>
            </a:r>
            <a:endParaRPr lang="en-US" sz="32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Objetivo del sistema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Permitir que el usuario converse con un bot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Mostrar respuestas en tiempo real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Mantener un historial de mensajes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Tecnologias usadas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Frontend desarrollado con React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Backend desarrollado con Node.js y Express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El backend se comunica con un servicio de IA (AWS Bedrock)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Formato JSON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0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Flujo pregunta - respuesta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Flujo General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Usuario escribe mensaje – frontend lo muestra y envia al backend – backend consulta a la IA – IA responde - backend devuelve la respuesta – frontend muestra la respuesta del bot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Accion del usuario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Usuario escribe mensaje – pulsa enviar – se ejecuta handleSend()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FUNCION handleSend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Es una funcion asincrona – valida input.trim() evita mensajes vacios – actualiza estado – llama al backend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Mensaje del usuario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Se añade al estado – se limpia el input – se actualiza la UI 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Experiencia del usuario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El mensaje aparece antes de la respuestas, en tiempo real.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Llamada al backend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sendMessageToBot()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Separa la logica – Comunica con backend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Petición HTTP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POST/chat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Content-Type JSON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Body con mensaje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Backend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Recibe mensaje – llama a AWS – Devuelve respuesta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Respuesta IA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IA genera texto – Backend lo devuelve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Respuesta frontend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Response.json()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S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Data.answer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P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Mensaje del bot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Se añade al estado – Se muestra en pantalla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Respuesta IA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IA genera texto – Backend lo devuelve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207360" y="289080"/>
            <a:ext cx="11726640" cy="78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s-ES" sz="4000" b="1" u="sng" strike="noStrike" spc="-1">
                <a:solidFill>
                  <a:srgbClr val="00B0F0"/>
                </a:solidFill>
                <a:uFillTx/>
                <a:latin typeface="Corbel"/>
              </a:rPr>
              <a:t>Resumen</a:t>
            </a:r>
            <a:endParaRPr lang="en-US" sz="4000" b="0" strike="noStrike" spc="-1">
              <a:solidFill>
                <a:schemeClr val="dk1"/>
              </a:solidFill>
              <a:latin typeface="Corbe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257760" y="1074600"/>
            <a:ext cx="11676240" cy="549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Flujo completo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Usuario – Frontend – Backend – IA - Frontend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Puntos clave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Async/await – Estados inmutables – Separacion de capas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Arquitectura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Codigo limpio – Escalable - Mantenible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2800" b="1" strike="noStrike" spc="-1">
                <a:solidFill>
                  <a:srgbClr val="00B0F0"/>
                </a:solidFill>
                <a:latin typeface="Corbel"/>
              </a:rPr>
              <a:t>Conclusion</a:t>
            </a:r>
            <a:endParaRPr lang="en-US" sz="28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400" b="1" strike="noStrike" spc="-1">
                <a:solidFill>
                  <a:srgbClr val="000000"/>
                </a:solidFill>
                <a:latin typeface="Corbel"/>
              </a:rPr>
              <a:t>Chatbot funcional – Fluijo claro – Buenas UX</a:t>
            </a: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400" b="0" strike="noStrike" spc="-1">
              <a:solidFill>
                <a:schemeClr val="accent1"/>
              </a:solidFill>
              <a:latin typeface="Corbe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</a:majorFont>
      <a:minorFont>
        <a:latin typeface="Corbel" panose="020B0503020204020204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187</TotalTime>
  <Words>1005</Words>
  <Application>Microsoft Office PowerPoint</Application>
  <PresentationFormat>Panorámica</PresentationFormat>
  <Paragraphs>78</Paragraphs>
  <Slides>29</Slides>
  <Notes>0</Notes>
  <HiddenSlides>0</HiddenSlides>
  <ScaleCrop>false</ScaleCrop>
  <HeadingPairs>
    <vt:vector size="4" baseType="variant">
      <vt:variant>
        <vt:lpstr>Tema</vt:lpstr>
      </vt:variant>
      <vt:variant>
        <vt:i4>13</vt:i4>
      </vt:variant>
      <vt:variant>
        <vt:lpstr>Títulos de diapositiva</vt:lpstr>
      </vt:variant>
      <vt:variant>
        <vt:i4>29</vt:i4>
      </vt:variant>
    </vt:vector>
  </HeadingPairs>
  <TitlesOfParts>
    <vt:vector size="42" baseType="lpstr">
      <vt:lpstr>Base</vt:lpstr>
      <vt:lpstr>Base</vt:lpstr>
      <vt:lpstr>Base</vt:lpstr>
      <vt:lpstr>Base</vt:lpstr>
      <vt:lpstr>Base</vt:lpstr>
      <vt:lpstr>Base</vt:lpstr>
      <vt:lpstr>Base</vt:lpstr>
      <vt:lpstr>Base</vt:lpstr>
      <vt:lpstr>Base</vt:lpstr>
      <vt:lpstr>Base</vt:lpstr>
      <vt:lpstr>Base</vt:lpstr>
      <vt:lpstr>Base</vt:lpstr>
      <vt:lpstr>Base</vt:lpstr>
      <vt:lpstr>Tech &amp; Learn</vt:lpstr>
      <vt:lpstr>Índice</vt:lpstr>
      <vt:lpstr>Redes, Git y Tecnologías Dominadas</vt:lpstr>
      <vt:lpstr>Redes, Git y Tecnologías Dominadas</vt:lpstr>
      <vt:lpstr>Redes, Git y Tecnologías Dominadas</vt:lpstr>
      <vt:lpstr>Redes, Git y Tecnologías Dominadas</vt:lpstr>
      <vt:lpstr>Descripción</vt:lpstr>
      <vt:lpstr>MVP</vt:lpstr>
      <vt:lpstr>Boceto</vt:lpstr>
      <vt:lpstr>Estudio de Tiendas Online</vt:lpstr>
      <vt:lpstr>Estudio de Tiendas Online</vt:lpstr>
      <vt:lpstr>Home (Inicio)</vt:lpstr>
      <vt:lpstr>Home (Inicio)</vt:lpstr>
      <vt:lpstr>Login (Iniciar Sesión)</vt:lpstr>
      <vt:lpstr>Crear Usuario</vt:lpstr>
      <vt:lpstr>Recordar Contraseña</vt:lpstr>
      <vt:lpstr>Productos</vt:lpstr>
      <vt:lpstr>Detalles Producto</vt:lpstr>
      <vt:lpstr>Cesta</vt:lpstr>
      <vt:lpstr>Tarjetas de Pago</vt:lpstr>
      <vt:lpstr>Editar Tarjetas de Pago</vt:lpstr>
      <vt:lpstr>Finalizar Compra</vt:lpstr>
      <vt:lpstr>Tarjetas de Aprender</vt:lpstr>
      <vt:lpstr>Editar Tarjetas de Aprender</vt:lpstr>
      <vt:lpstr>Funcionamiento del ChatBot</vt:lpstr>
      <vt:lpstr>Flujo pregunta - respuesta</vt:lpstr>
      <vt:lpstr>Llamada al backend</vt:lpstr>
      <vt:lpstr>Respuesta frontend</vt:lpstr>
      <vt:lpstr>Resumen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CM</dc:creator>
  <dc:description/>
  <cp:lastModifiedBy/>
  <cp:revision>152</cp:revision>
  <dcterms:created xsi:type="dcterms:W3CDTF">2025-12-12T09:20:53Z</dcterms:created>
  <dcterms:modified xsi:type="dcterms:W3CDTF">2026-01-15T14:23:17Z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23</vt:i4>
  </property>
</Properties>
</file>