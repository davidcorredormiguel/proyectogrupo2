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78" r:id="rId4"/>
    <p:sldId id="258" r:id="rId5"/>
    <p:sldId id="277" r:id="rId6"/>
    <p:sldId id="276" r:id="rId7"/>
    <p:sldId id="275" r:id="rId8"/>
    <p:sldId id="268" r:id="rId9"/>
    <p:sldId id="267" r:id="rId10"/>
    <p:sldId id="269" r:id="rId11"/>
    <p:sldId id="260" r:id="rId12"/>
    <p:sldId id="274" r:id="rId13"/>
    <p:sldId id="266" r:id="rId14"/>
    <p:sldId id="270" r:id="rId15"/>
    <p:sldId id="259" r:id="rId16"/>
    <p:sldId id="261" r:id="rId17"/>
    <p:sldId id="271" r:id="rId18"/>
    <p:sldId id="262" r:id="rId19"/>
    <p:sldId id="263" r:id="rId20"/>
    <p:sldId id="272" r:id="rId21"/>
    <p:sldId id="264" r:id="rId22"/>
    <p:sldId id="265" r:id="rId23"/>
    <p:sldId id="273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312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946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5465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8206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1037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07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8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929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8443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44517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94605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39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2213886-AFFD-445E-9427-6DB448F87EF8}" type="datetimeFigureOut">
              <a:rPr lang="es-ES" smtClean="0"/>
              <a:t>09/01/2026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6787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0" Type="http://schemas.openxmlformats.org/officeDocument/2006/relationships/hyperlink" Target="https://github.com/DavidCorredorMiguel?tab=repositorie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es.linkedin.com/in/david-corredor-miguel-7b057624a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s.linkedin.com/in/noelia-alafarga-backend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hyperlink" Target="https://github.com/noelianikolatesla?tab=repositories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ivangc1?tab=repositories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oimenta84?tab=repositories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es.linkedin.com/in/iker-martinez-dev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9A225A-2886-DCBB-07B6-E64AA9B596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>
              <a:lnSpc>
                <a:spcPct val="100000"/>
              </a:lnSpc>
            </a:pPr>
            <a:r>
              <a:rPr lang="es-ES" u="sng" dirty="0" err="1">
                <a:solidFill>
                  <a:srgbClr val="002060"/>
                </a:solidFill>
              </a:rPr>
              <a:t>Tech</a:t>
            </a:r>
            <a:r>
              <a:rPr lang="es-ES" u="sng" dirty="0">
                <a:solidFill>
                  <a:srgbClr val="002060"/>
                </a:solidFill>
              </a:rPr>
              <a:t> &amp; Learn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B3BC371-3810-BDD3-3371-610B9A093F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269" y="3602037"/>
            <a:ext cx="9001462" cy="2926080"/>
          </a:xfrm>
        </p:spPr>
        <p:txBody>
          <a:bodyPr anchor="ctr">
            <a:normAutofit/>
          </a:bodyPr>
          <a:lstStyle/>
          <a:p>
            <a:r>
              <a:rPr lang="es-ES" sz="3200" b="1" u="sng" dirty="0">
                <a:solidFill>
                  <a:srgbClr val="002060"/>
                </a:solidFill>
              </a:rPr>
              <a:t>David Corredor Miguel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Ivan Goded Carrete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Iker Martínez Velasco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Noelia </a:t>
            </a:r>
            <a:r>
              <a:rPr lang="es-ES" sz="3200" b="1" u="sng" dirty="0" err="1">
                <a:solidFill>
                  <a:srgbClr val="002060"/>
                </a:solidFill>
              </a:rPr>
              <a:t>Alafarga</a:t>
            </a:r>
            <a:r>
              <a:rPr lang="es-ES" sz="3200" b="1" u="sng" dirty="0">
                <a:solidFill>
                  <a:srgbClr val="002060"/>
                </a:solidFill>
              </a:rPr>
              <a:t> </a:t>
            </a:r>
            <a:r>
              <a:rPr lang="es-ES" sz="3200" b="1" u="sng" dirty="0" err="1">
                <a:solidFill>
                  <a:srgbClr val="002060"/>
                </a:solidFill>
              </a:rPr>
              <a:t>Payá</a:t>
            </a:r>
            <a:endParaRPr lang="es-ES" sz="3200" b="1" u="sng" dirty="0">
              <a:solidFill>
                <a:srgbClr val="002060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E8695C1-F8AB-2A5A-E27F-A2FBC6BBD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495" y="1643406"/>
            <a:ext cx="4925505" cy="492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91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E53E8-D5C8-03F3-6D3B-58DC5170D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43433"/>
            <a:ext cx="4713400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Índice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1D1127-D4BD-DB02-5973-ABDA1CAE2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289089"/>
            <a:ext cx="11676669" cy="6460503"/>
          </a:xfrm>
        </p:spPr>
        <p:txBody>
          <a:bodyPr anchor="t">
            <a:no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Redes, Git y Tecnologías Dominadas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Descripción y Boceto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Estudio de tiendas online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Home (Inicio)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Login (Iniciar Sesión)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Crear Usuario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Recordar Contraseña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Productos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Detalles Producto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Cesta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Tarjetas de Pago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Editar Tarjetas de Pago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Finalizar Compra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Tarjetas de Aprender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1800" b="1" u="sng" dirty="0">
                <a:solidFill>
                  <a:srgbClr val="00B0F0"/>
                </a:solidFill>
              </a:rPr>
              <a:t>Editar Tarjetas de Aprender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671965C-8488-3534-EC08-67D86A037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495" y="1643406"/>
            <a:ext cx="4925505" cy="492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692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CEC18-8177-6587-566C-CBA0319B8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30C60F-D614-6C3E-88F8-2851E2931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2" y="289089"/>
            <a:ext cx="6532773" cy="785567"/>
          </a:xfrm>
        </p:spPr>
        <p:txBody>
          <a:bodyPr>
            <a:normAutofit/>
          </a:bodyPr>
          <a:lstStyle/>
          <a:p>
            <a:pPr algn="ctr"/>
            <a:r>
              <a:rPr lang="es-ES" b="1" u="sng" dirty="0">
                <a:solidFill>
                  <a:srgbClr val="00B0F0"/>
                </a:solidFill>
              </a:rPr>
              <a:t>Redes, Git y Tecnologías Dominadas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9C82C21-DA68-AEA6-F716-67CC5B9E9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222" y="234963"/>
            <a:ext cx="3978111" cy="158376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29D4DE3-8C6D-74BB-EBAF-1F0060B3A1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331" y="1919716"/>
            <a:ext cx="1339099" cy="133909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11C7FE4-5BA5-292F-86DB-1F98D0B534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63" y="3171468"/>
            <a:ext cx="1583763" cy="1583763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D29DC1A-4524-0626-64F7-48BF81E8BD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96" y="1418040"/>
            <a:ext cx="1670246" cy="167024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03292112-7952-18F4-F375-A63539D9AA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6629" y="3622819"/>
            <a:ext cx="2505076" cy="135274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88A19DBD-38CA-F21C-1DC6-14162374BC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4309" y="4975560"/>
            <a:ext cx="1531856" cy="153185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38B84DB-F009-2DF2-E790-031075868B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1065" y="5086839"/>
            <a:ext cx="1335100" cy="1335100"/>
          </a:xfrm>
          <a:prstGeom prst="rect">
            <a:avLst/>
          </a:prstGeom>
        </p:spPr>
      </p:pic>
      <p:sp>
        <p:nvSpPr>
          <p:cNvPr id="34" name="Marcador de texto 2">
            <a:extLst>
              <a:ext uri="{FF2B5EF4-FFF2-40B4-BE49-F238E27FC236}">
                <a16:creationId xmlns:a16="http://schemas.microsoft.com/office/drawing/2014/main" id="{A233A15A-A17A-1D6B-7793-5C6B81525A30}"/>
              </a:ext>
            </a:extLst>
          </p:cNvPr>
          <p:cNvSpPr txBox="1">
            <a:spLocks/>
          </p:cNvSpPr>
          <p:nvPr/>
        </p:nvSpPr>
        <p:spPr>
          <a:xfrm>
            <a:off x="257667" y="1026844"/>
            <a:ext cx="7227216" cy="16765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None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400" b="1" dirty="0">
                <a:solidFill>
                  <a:srgbClr val="00B0F0"/>
                </a:solidFill>
              </a:rPr>
              <a:t>David Corredor Miguel</a:t>
            </a:r>
          </a:p>
          <a:p>
            <a:r>
              <a:rPr lang="es-ES" sz="2000" b="1" dirty="0">
                <a:solidFill>
                  <a:srgbClr val="00B0F0"/>
                </a:solidFill>
                <a:hlinkClick r:id="rId9"/>
              </a:rPr>
              <a:t>https://es.linkedin.com/in/david-corredor-miguel-7b057624a</a:t>
            </a:r>
            <a:endParaRPr lang="es-ES" sz="2000" b="1" dirty="0">
              <a:solidFill>
                <a:srgbClr val="00B0F0"/>
              </a:solidFill>
            </a:endParaRPr>
          </a:p>
          <a:p>
            <a:r>
              <a:rPr lang="es-ES" sz="2000" b="1" dirty="0">
                <a:solidFill>
                  <a:srgbClr val="00B0F0"/>
                </a:solidFill>
                <a:hlinkClick r:id="rId10"/>
              </a:rPr>
              <a:t>https://github.com/DavidCorredorMiguel?tab=repositories</a:t>
            </a:r>
            <a:r>
              <a:rPr lang="es-ES" sz="2000" b="1" dirty="0">
                <a:solidFill>
                  <a:srgbClr val="00B0F0"/>
                </a:solidFill>
              </a:rPr>
              <a:t> </a:t>
            </a:r>
          </a:p>
          <a:p>
            <a:endParaRPr lang="es-ES" sz="2000" b="1" dirty="0">
              <a:solidFill>
                <a:srgbClr val="00B0F0"/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914EAFE-A773-7221-673A-6BD2BFFAA52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4125" y="4894233"/>
            <a:ext cx="3009900" cy="1524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3D88CDE-9D1D-4C95-C5A1-1CD8838492A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932" y="5130338"/>
            <a:ext cx="1473846" cy="127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622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F53E-7EE1-75AF-0EEC-E57C39F24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B26A3-E016-4EBE-FE6D-3E5ED5CF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2" y="289089"/>
            <a:ext cx="6532773" cy="785567"/>
          </a:xfrm>
        </p:spPr>
        <p:txBody>
          <a:bodyPr>
            <a:normAutofit/>
          </a:bodyPr>
          <a:lstStyle/>
          <a:p>
            <a:pPr algn="ctr"/>
            <a:r>
              <a:rPr lang="es-ES" b="1" u="sng" dirty="0">
                <a:solidFill>
                  <a:srgbClr val="00B0F0"/>
                </a:solidFill>
              </a:rPr>
              <a:t>Redes, Git y Tecnologías Dominadas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0467918-2D1C-1762-86EA-86881DE33A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222" y="234963"/>
            <a:ext cx="3978111" cy="158376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E4602E0-1168-F558-8928-19DD0DE0A7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331" y="1919716"/>
            <a:ext cx="1339099" cy="133909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533771D-5775-DC38-9DC4-1BBE2C27C4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63" y="3171468"/>
            <a:ext cx="1583763" cy="1583763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C419208-D702-C606-1F47-B6637BA073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96" y="1418040"/>
            <a:ext cx="1670246" cy="167024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95D4270-E004-6487-EE5F-7EEAE6C385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1788" y="3402490"/>
            <a:ext cx="2505076" cy="135274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95ED43D1-1746-875B-9DAE-1BE59F5D1E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4309" y="4975560"/>
            <a:ext cx="1531856" cy="1531856"/>
          </a:xfrm>
          <a:prstGeom prst="rect">
            <a:avLst/>
          </a:prstGeom>
        </p:spPr>
      </p:pic>
      <p:sp>
        <p:nvSpPr>
          <p:cNvPr id="36" name="Marcador de texto 2">
            <a:extLst>
              <a:ext uri="{FF2B5EF4-FFF2-40B4-BE49-F238E27FC236}">
                <a16:creationId xmlns:a16="http://schemas.microsoft.com/office/drawing/2014/main" id="{194CEFFB-CBDB-EF83-1365-EC553368E552}"/>
              </a:ext>
            </a:extLst>
          </p:cNvPr>
          <p:cNvSpPr txBox="1">
            <a:spLocks/>
          </p:cNvSpPr>
          <p:nvPr/>
        </p:nvSpPr>
        <p:spPr>
          <a:xfrm>
            <a:off x="269232" y="1026843"/>
            <a:ext cx="7078962" cy="15837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None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400" b="1" dirty="0">
                <a:solidFill>
                  <a:srgbClr val="00B0F0"/>
                </a:solidFill>
              </a:rPr>
              <a:t>Noelia </a:t>
            </a:r>
            <a:r>
              <a:rPr lang="es-ES" sz="2400" b="1" dirty="0" err="1">
                <a:solidFill>
                  <a:srgbClr val="00B0F0"/>
                </a:solidFill>
              </a:rPr>
              <a:t>Alafarga</a:t>
            </a:r>
            <a:r>
              <a:rPr lang="es-ES" sz="2400" b="1" dirty="0">
                <a:solidFill>
                  <a:srgbClr val="00B0F0"/>
                </a:solidFill>
              </a:rPr>
              <a:t> </a:t>
            </a:r>
            <a:r>
              <a:rPr lang="es-ES" sz="2400" b="1" dirty="0" err="1">
                <a:solidFill>
                  <a:srgbClr val="00B0F0"/>
                </a:solidFill>
              </a:rPr>
              <a:t>Payá</a:t>
            </a:r>
            <a:endParaRPr lang="es-ES" sz="2400" b="1" dirty="0">
              <a:solidFill>
                <a:srgbClr val="00B0F0"/>
              </a:solidFill>
            </a:endParaRPr>
          </a:p>
          <a:p>
            <a:r>
              <a:rPr lang="es-ES" sz="2000" b="1" dirty="0">
                <a:solidFill>
                  <a:srgbClr val="00B0F0"/>
                </a:solidFill>
                <a:hlinkClick r:id="rId8"/>
              </a:rPr>
              <a:t>https://es.linkedin.com/in/noelia-alafarga-backend</a:t>
            </a:r>
            <a:endParaRPr lang="es-ES" sz="2000" b="1" dirty="0">
              <a:solidFill>
                <a:srgbClr val="00B0F0"/>
              </a:solidFill>
            </a:endParaRPr>
          </a:p>
          <a:p>
            <a:r>
              <a:rPr lang="es-ES" sz="2000" b="1" u="sng" dirty="0">
                <a:hlinkClick r:id="rId9"/>
              </a:rPr>
              <a:t>https://github.com/noelianikolatesla?tab=repositories</a:t>
            </a:r>
            <a:r>
              <a:rPr lang="es-ES" sz="2000" b="1" u="sng" dirty="0"/>
              <a:t> </a:t>
            </a:r>
            <a:endParaRPr lang="es-ES" sz="2800" b="1" dirty="0">
              <a:solidFill>
                <a:srgbClr val="00B0F0"/>
              </a:solidFill>
            </a:endParaRPr>
          </a:p>
        </p:txBody>
      </p:sp>
      <p:pic>
        <p:nvPicPr>
          <p:cNvPr id="58" name="Imagen 57">
            <a:extLst>
              <a:ext uri="{FF2B5EF4-FFF2-40B4-BE49-F238E27FC236}">
                <a16:creationId xmlns:a16="http://schemas.microsoft.com/office/drawing/2014/main" id="{54FA581F-BED6-5C61-C40C-224B58272A0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496" y="4814995"/>
            <a:ext cx="3009900" cy="1524000"/>
          </a:xfrm>
          <a:prstGeom prst="rect">
            <a:avLst/>
          </a:prstGeom>
        </p:spPr>
      </p:pic>
      <p:pic>
        <p:nvPicPr>
          <p:cNvPr id="59" name="Imagen 58">
            <a:extLst>
              <a:ext uri="{FF2B5EF4-FFF2-40B4-BE49-F238E27FC236}">
                <a16:creationId xmlns:a16="http://schemas.microsoft.com/office/drawing/2014/main" id="{0384E17F-002C-F8A3-FD67-AE09BB6A54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276" y="5192490"/>
            <a:ext cx="1473846" cy="127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52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1642B-CAED-1F74-6C40-62F5E8CE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BA21FF-0BE6-9592-E4F1-05F09468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2" y="289089"/>
            <a:ext cx="6532773" cy="785567"/>
          </a:xfrm>
        </p:spPr>
        <p:txBody>
          <a:bodyPr>
            <a:normAutofit/>
          </a:bodyPr>
          <a:lstStyle/>
          <a:p>
            <a:pPr algn="ctr"/>
            <a:r>
              <a:rPr lang="es-ES" b="1" u="sng" dirty="0">
                <a:solidFill>
                  <a:srgbClr val="00B0F0"/>
                </a:solidFill>
              </a:rPr>
              <a:t>Redes, Git y Tecnologías Dominadas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DFDB54F-2586-366C-8503-B1EFA79A6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7" y="1026844"/>
            <a:ext cx="7293784" cy="1182201"/>
          </a:xfrm>
        </p:spPr>
        <p:txBody>
          <a:bodyPr anchor="t">
            <a:normAutofit/>
          </a:bodyPr>
          <a:lstStyle/>
          <a:p>
            <a:r>
              <a:rPr lang="es-ES" sz="2400" b="1" dirty="0">
                <a:solidFill>
                  <a:srgbClr val="00B0F0"/>
                </a:solidFill>
              </a:rPr>
              <a:t>Ivan Goded Carrete</a:t>
            </a:r>
          </a:p>
          <a:p>
            <a:r>
              <a:rPr lang="es-ES" sz="2000" b="1" u="sng" dirty="0">
                <a:hlinkClick r:id="rId2"/>
              </a:rPr>
              <a:t>https://github.com/ivangc1?tab=repositories</a:t>
            </a:r>
            <a:endParaRPr lang="es-ES" sz="2800" b="1" dirty="0">
              <a:solidFill>
                <a:srgbClr val="00B0F0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4DBBC0F-5221-E5EB-2BC9-D4F4B670D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222" y="234963"/>
            <a:ext cx="3978111" cy="158376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DF3FC1D-6CE1-ADAF-6932-20B492A26B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331" y="1919716"/>
            <a:ext cx="1339099" cy="133909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04F848C-824B-8F29-8EB3-8339726255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63" y="3171468"/>
            <a:ext cx="1583763" cy="1583763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73919255-7E51-27D6-415F-189AF44270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96" y="1418040"/>
            <a:ext cx="1670246" cy="167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998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DC358-4DC1-7A42-4369-31974998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5DA644-B948-DE62-5C20-54B4644A9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2" y="289089"/>
            <a:ext cx="6532773" cy="785567"/>
          </a:xfrm>
        </p:spPr>
        <p:txBody>
          <a:bodyPr>
            <a:normAutofit/>
          </a:bodyPr>
          <a:lstStyle/>
          <a:p>
            <a:pPr algn="ctr"/>
            <a:r>
              <a:rPr lang="es-ES" b="1" u="sng" dirty="0">
                <a:solidFill>
                  <a:srgbClr val="00B0F0"/>
                </a:solidFill>
              </a:rPr>
              <a:t>Redes, Git y Tecnologías Dominadas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EBF86EB-F6BD-030C-8A68-43712A3557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222" y="234963"/>
            <a:ext cx="3978111" cy="158376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7440FB5-2694-CC0C-EB91-FFAA7D7BBE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331" y="1919716"/>
            <a:ext cx="1339099" cy="133909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A62F8936-048E-90B2-5A7D-7D30301B58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63" y="3171468"/>
            <a:ext cx="1583763" cy="1583763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A0745A8-F135-2335-BAF2-BA5DBE6405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96" y="1418040"/>
            <a:ext cx="1670246" cy="167024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393EAA7-604A-5DB9-37A9-07211B7F7C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6629" y="3622819"/>
            <a:ext cx="2505076" cy="1352741"/>
          </a:xfrm>
          <a:prstGeom prst="rect">
            <a:avLst/>
          </a:prstGeom>
        </p:spPr>
      </p:pic>
      <p:sp>
        <p:nvSpPr>
          <p:cNvPr id="35" name="Marcador de texto 2">
            <a:extLst>
              <a:ext uri="{FF2B5EF4-FFF2-40B4-BE49-F238E27FC236}">
                <a16:creationId xmlns:a16="http://schemas.microsoft.com/office/drawing/2014/main" id="{C220CE75-D800-3C5D-E1BF-9A0E7945016D}"/>
              </a:ext>
            </a:extLst>
          </p:cNvPr>
          <p:cNvSpPr txBox="1">
            <a:spLocks/>
          </p:cNvSpPr>
          <p:nvPr/>
        </p:nvSpPr>
        <p:spPr>
          <a:xfrm>
            <a:off x="257667" y="1074656"/>
            <a:ext cx="6925938" cy="16786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None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None/>
              <a:defRPr sz="1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400" b="1" dirty="0">
                <a:solidFill>
                  <a:srgbClr val="00B0F0"/>
                </a:solidFill>
              </a:rPr>
              <a:t>Iker Martínez Velasco</a:t>
            </a:r>
          </a:p>
          <a:p>
            <a:r>
              <a:rPr lang="es-ES" sz="2000" b="1" u="sng" dirty="0">
                <a:hlinkClick r:id="rId7"/>
              </a:rPr>
              <a:t>https://es.linkedin.com/in/iker-martinez-dev/</a:t>
            </a:r>
            <a:endParaRPr lang="es-ES" sz="2000" b="1" u="sng" dirty="0"/>
          </a:p>
          <a:p>
            <a:r>
              <a:rPr lang="es-ES" sz="2000" b="1" u="sng" dirty="0">
                <a:hlinkClick r:id="rId8"/>
              </a:rPr>
              <a:t>https://github.com/moimenta84?tab=repositories</a:t>
            </a:r>
            <a:endParaRPr lang="es-ES" sz="2000" b="1" u="sng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787D4B3-7B7F-4502-93B5-292D073751A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6755" y="4975560"/>
            <a:ext cx="30099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08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B8F8E-F17C-BE33-E52E-ED2DA6A12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7CDB5E-31B6-E771-3B56-DBB854050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Descripción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42E4D53-690E-051E-5FD3-0D39B3D680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8188750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Nuestra app de React es una tienda que reúne todo tipo de tecnologías, desde electrodomésticos, informática, sonido, hogar, etc.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Además, te permite aprender sobre tecnologías con tarjetas de aprendizaje que puede crear el usuario. 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Puede buscar productos y filtrar por categoría. Añadir comentarios y valoraciones de productos.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Tanto para comprar, comentar, valorar y crear tarjetas de aprendizaje el usuario debe estar registrado. 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70AAA26-D3DC-864A-CB75-C28D90108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495" y="1643406"/>
            <a:ext cx="4925505" cy="492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35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C76E-545E-0E6D-21BC-23C8D988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5508B-9D86-0211-2B62-2DF698A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87191"/>
            <a:ext cx="2960015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Boceto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AF2323-5F74-A3E2-5A35-6E27F1D10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endParaRPr lang="es-ES" sz="2800" b="1" dirty="0">
              <a:solidFill>
                <a:srgbClr val="00B0F0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3DC060B-5E29-4192-7510-B72DF9347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7284" y="289089"/>
            <a:ext cx="9207325" cy="627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46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17915-103B-F114-C7DA-48869396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FFF4B5-6210-0F6B-D788-32B41A52C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Estudio de Tiendas Online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4D740A6-473B-7BD3-BF92-8AB564330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ctr"/>
            <a:r>
              <a:rPr lang="es-ES" sz="2800" b="1" u="sng" dirty="0" err="1">
                <a:solidFill>
                  <a:srgbClr val="00B0F0"/>
                </a:solidFill>
              </a:rPr>
              <a:t>Mediamarkt</a:t>
            </a:r>
            <a:endParaRPr lang="es-ES" sz="2800" b="1" u="sng" dirty="0">
              <a:solidFill>
                <a:srgbClr val="00B0F0"/>
              </a:solidFill>
            </a:endParaRP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Hemos analizado las interfaces principales de la tienda online </a:t>
            </a:r>
            <a:r>
              <a:rPr lang="es-ES" sz="2800" b="1" dirty="0" err="1">
                <a:solidFill>
                  <a:srgbClr val="00B0F0"/>
                </a:solidFill>
              </a:rPr>
              <a:t>MediaMarkt</a:t>
            </a:r>
            <a:r>
              <a:rPr lang="es-ES" sz="2800" b="1" dirty="0">
                <a:solidFill>
                  <a:srgbClr val="00B0F0"/>
                </a:solidFill>
              </a:rPr>
              <a:t> como referencia para el diseño de una tienda de electrodomésticos propia. Es uno de los e-</a:t>
            </a:r>
            <a:r>
              <a:rPr lang="es-ES" sz="2800" b="1" dirty="0" err="1">
                <a:solidFill>
                  <a:srgbClr val="00B0F0"/>
                </a:solidFill>
              </a:rPr>
              <a:t>commerce</a:t>
            </a:r>
            <a:r>
              <a:rPr lang="es-ES" sz="2800" b="1" dirty="0">
                <a:solidFill>
                  <a:srgbClr val="00B0F0"/>
                </a:solidFill>
              </a:rPr>
              <a:t> lideres en venta de tecnología y electrodomésticos en España, por lo que su estructura, experiencia de usuario y elementos visuales resultan una guía útil para identificar buenas practicas y oportunidades de mejora.</a:t>
            </a: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El análisis se centra en las siguientes pantallas clave del recorrido de compra: - Home o pagina principal - Pagina de categoría - Resultados de búsqueda - Ficha de producto - Carrito y proceso de compra - Area de usuario y postventa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Mas info en: Estudio Mediamarkt.docx</a:t>
            </a:r>
          </a:p>
        </p:txBody>
      </p:sp>
    </p:spTree>
    <p:extLst>
      <p:ext uri="{BB962C8B-B14F-4D97-AF65-F5344CB8AC3E}">
        <p14:creationId xmlns:p14="http://schemas.microsoft.com/office/powerpoint/2010/main" val="1933394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A5ACD-B567-F69B-F39E-6C862B475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2A386-798D-A4AA-7084-E6968799C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Estudio de Tiendas Online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E68FD5-0D93-B3E3-7E8A-5D54643315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ctr"/>
            <a:r>
              <a:rPr lang="es-ES" sz="2800" b="1" u="sng" dirty="0">
                <a:solidFill>
                  <a:srgbClr val="00B0F0"/>
                </a:solidFill>
              </a:rPr>
              <a:t>Amazon</a:t>
            </a: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Hemos analizado las interfaces principales de la tienda online Amazon como referencia para el diseño de una tienda de electrodomésticos propia. Es uno de los e-</a:t>
            </a:r>
            <a:r>
              <a:rPr lang="es-ES" sz="2800" b="1" dirty="0" err="1">
                <a:solidFill>
                  <a:srgbClr val="00B0F0"/>
                </a:solidFill>
              </a:rPr>
              <a:t>commerce</a:t>
            </a:r>
            <a:r>
              <a:rPr lang="es-ES" sz="2800" b="1" dirty="0">
                <a:solidFill>
                  <a:srgbClr val="00B0F0"/>
                </a:solidFill>
              </a:rPr>
              <a:t> lideres en venta online, por lo que su estructura, experiencia de usuario y elementos visuales resultan una guía útil para identificar buenas practicas y oportunidades de mejora.</a:t>
            </a:r>
          </a:p>
          <a:p>
            <a:pPr algn="l"/>
            <a:r>
              <a:rPr lang="es-ES" sz="2800" b="1" dirty="0">
                <a:solidFill>
                  <a:srgbClr val="00B0F0"/>
                </a:solidFill>
              </a:rPr>
              <a:t>El análisis se centra en las siguientes pantallas clave del recorrido de compra: - Home o pagina principal - Pagina de categoría - Resultados de búsqueda - Ficha de producto - Carrito y proceso de compra - Area de usuario y postventa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Mas info en: Estudio Amazon.docx</a:t>
            </a:r>
          </a:p>
        </p:txBody>
      </p:sp>
    </p:spTree>
    <p:extLst>
      <p:ext uri="{BB962C8B-B14F-4D97-AF65-F5344CB8AC3E}">
        <p14:creationId xmlns:p14="http://schemas.microsoft.com/office/powerpoint/2010/main" val="3447660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43680-B653-E750-2748-A981D962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EC691-9DBF-9614-3318-0742C8D6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Home (Inicio)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018C736-3C65-68D6-745E-06829A415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la de Inicio aparece si ha iniciado sesión el Nombre de Usuario. Al pulsar Cerrar Sesión cierra la sesión y vuelve a aparecer el botón Login. Al pulsar Login te lleva a la pagina de Login (Iniciar Sesión).</a:t>
            </a:r>
          </a:p>
          <a:p>
            <a:r>
              <a:rPr lang="es-ES" sz="2800" b="1" dirty="0">
                <a:solidFill>
                  <a:srgbClr val="00B0F0"/>
                </a:solidFill>
              </a:rPr>
              <a:t>Además, aparece en el menu superior el logo (te lleva a esta misma página), una barra de búsqueda para buscar en producto en la tienda y las diferentes páginas. En el centro una lista con los productos destacados. Y en el menu inferior el logo (te lleva a esta misma página), las diferentes páginas y el copyright.</a:t>
            </a:r>
          </a:p>
        </p:txBody>
      </p:sp>
    </p:spTree>
    <p:extLst>
      <p:ext uri="{BB962C8B-B14F-4D97-AF65-F5344CB8AC3E}">
        <p14:creationId xmlns:p14="http://schemas.microsoft.com/office/powerpoint/2010/main" val="1676473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275-C163-D36C-D84F-98A40F6E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860D20-60AB-92D1-8E0B-639F619E9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Home (Inicio)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7F3A1E-0B5C-9ED6-FE1A-0870E6215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6746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7A8B-CC85-2590-71C9-89423ADB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EE2F4-9471-3268-F6DF-C77D4E26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Login (Iniciar Sesión)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411CAF-AA8E-D2FF-D8EF-9406DEEF3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para Iniciar Sesión poniendo el Email y Contraseña. Al pulsar Iniciar Sesión te lleva a Home (Inicio) con la sesión iniciada.</a:t>
            </a:r>
          </a:p>
        </p:txBody>
      </p:sp>
    </p:spTree>
    <p:extLst>
      <p:ext uri="{BB962C8B-B14F-4D97-AF65-F5344CB8AC3E}">
        <p14:creationId xmlns:p14="http://schemas.microsoft.com/office/powerpoint/2010/main" val="1353400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C5B9-F702-32E6-E203-5789E7D71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62E0ED-3679-091B-AA9D-931D7646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Crear Usuario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D998F6C-F44B-1D08-73C6-08C7A731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para Crear Usuario poniendo el Nombre de Usuario, Email y Contraseña. Al pulsar Registrarse crea el usuario.</a:t>
            </a:r>
          </a:p>
        </p:txBody>
      </p:sp>
    </p:spTree>
    <p:extLst>
      <p:ext uri="{BB962C8B-B14F-4D97-AF65-F5344CB8AC3E}">
        <p14:creationId xmlns:p14="http://schemas.microsoft.com/office/powerpoint/2010/main" val="9612581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9C401-D4B8-6335-4299-51358D01B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CF1B91-4590-DAD9-6234-08742835C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Recordar Contraseña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8CD9F5-1223-187B-640D-584DF592E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es para Recordar Contraseña poniendo el Email y la Contraseña dos veces. Al pulsar Cambiar Contraseña la cambia e inicia sesión.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824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807C-99FC-F8E9-35A7-FF96B280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C6AD6-694C-BEFB-E8DE-FF33A6EFB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Productos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EE8E04-F9F5-0CD4-3CBB-E1F050D9D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todos los productos con nombre, precio e imagen. Al pulsar Añadir con la sesión iniciada se te añade a Cesta.</a:t>
            </a:r>
          </a:p>
        </p:txBody>
      </p:sp>
    </p:spTree>
    <p:extLst>
      <p:ext uri="{BB962C8B-B14F-4D97-AF65-F5344CB8AC3E}">
        <p14:creationId xmlns:p14="http://schemas.microsoft.com/office/powerpoint/2010/main" val="1380892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105A-C873-DEDC-EB60-CBCC88385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A4596C-F139-FECA-BCD7-72882CA4C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Detalles Producto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E575B8-4E1B-A9FA-7D49-265E207E3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los detalles del producto (nombre, descripcion corta y larga, precio, imagen, características, galería de imágenes, comentarios y valoraciones). Al pulsar Añadir con la sesión iniciada se te añade a Cesta.</a:t>
            </a:r>
          </a:p>
        </p:txBody>
      </p:sp>
    </p:spTree>
    <p:extLst>
      <p:ext uri="{BB962C8B-B14F-4D97-AF65-F5344CB8AC3E}">
        <p14:creationId xmlns:p14="http://schemas.microsoft.com/office/powerpoint/2010/main" val="960200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874A-19C9-8D09-CF26-05F8169B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9921F-0C04-1CD1-6B65-4471E3655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Cesta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D717E3C-37B7-FB89-2E47-509730C09D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los productos añadidos (nombre, precio, imagen, cantidad, total y subtotal). Al pulsar Continuar con la sesión iniciada te lleva a Tarjetas de Pago.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2180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B23D-9BD4-51FA-B348-AF0D834EB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A6F264-69B9-887A-C8F2-649D80226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Tarjetas de Pago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8DDE8E-AC4E-D474-8D13-9197032F3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tiene las Tarjetas de Pago añadidas (nombre de usuario, fecha de caducidad, CCV). Al pulsar Añadir/Editar con la sesión iniciada te lleva a Editar Tarjetas de Pago. Al pulsar Continuar con la sesión iniciada te lleva a Finalizar Compra.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548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69C1E-9FC5-4CEE-C330-9DF66D59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4FC4E-F5FF-21CD-51CD-024F532D9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Editar Tarjetas de Pago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83C93DD-BA38-EB02-FD5E-C854D7ABC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permite añadir o editar las Tarjetas de Pago (nombre de usuario, fecha de caducidad, CCV). Al pulsar Añadir/Editar con la sesión iniciada te lleva a Tarjetas de Pago. </a:t>
            </a:r>
          </a:p>
        </p:txBody>
      </p:sp>
    </p:spTree>
    <p:extLst>
      <p:ext uri="{BB962C8B-B14F-4D97-AF65-F5344CB8AC3E}">
        <p14:creationId xmlns:p14="http://schemas.microsoft.com/office/powerpoint/2010/main" val="3147110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CDBF9-B222-7608-9292-3C46CA2B2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D23D9B-9364-7526-C35F-FDBDA934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Finalizar Compra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2C217F6-80B3-1B06-3392-0B053A218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r>
              <a:rPr lang="es-ES" sz="2800" b="1" dirty="0">
                <a:solidFill>
                  <a:srgbClr val="00B0F0"/>
                </a:solidFill>
              </a:rPr>
              <a:t>Esta pagina tiene los productos de la Cesta (nombre, precio, imagen, cantidad, total, subtotal y numero tarjeta de pago). Al pulsar Finalizar con la sesión iniciada te crea la factura.</a:t>
            </a:r>
          </a:p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6567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6807-5785-4AD4-A4E4-E15E3FB2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B60949-BBC2-8A3F-0958-0E04512AE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Tarjetas de Aprender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933D799-3FAE-17BD-F3A3-833ED5948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tiene las Tarjetas de Aprender añadidas (nombre de usuario, tipo, pregunta, respuestas). Al pulsar Añadir/Editar con la sesión iniciada te lleva a Editar Tarjetas de Aprender. </a:t>
            </a:r>
          </a:p>
        </p:txBody>
      </p:sp>
    </p:spTree>
    <p:extLst>
      <p:ext uri="{BB962C8B-B14F-4D97-AF65-F5344CB8AC3E}">
        <p14:creationId xmlns:p14="http://schemas.microsoft.com/office/powerpoint/2010/main" val="564579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DD58-2BC6-259F-692C-E21B39177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CADAAE-1631-1F63-B0F6-7C6D874F2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Editar Tarjetas de Aprender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13A5B65-C9BE-FAE6-24E2-C31F9465E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r>
              <a:rPr lang="es-ES" sz="2800" b="1" dirty="0">
                <a:solidFill>
                  <a:srgbClr val="00B0F0"/>
                </a:solidFill>
              </a:rPr>
              <a:t>Esta pagina permite añadir o editar las Tarjetas de Aprender (nombre de usuario, tipo, pregunta, respuestas). Al pulsar Añadir/Editar con la sesión iniciada te lleva a Tarjetas de Aprender. </a:t>
            </a:r>
          </a:p>
        </p:txBody>
      </p:sp>
    </p:spTree>
    <p:extLst>
      <p:ext uri="{BB962C8B-B14F-4D97-AF65-F5344CB8AC3E}">
        <p14:creationId xmlns:p14="http://schemas.microsoft.com/office/powerpoint/2010/main" val="1254558260"/>
      </p:ext>
    </p:extLst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e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TM03457444[[fn=Base]]</Template>
  <TotalTime>163</TotalTime>
  <Words>1005</Words>
  <Application>Microsoft Office PowerPoint</Application>
  <PresentationFormat>Panorámica</PresentationFormat>
  <Paragraphs>78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5" baseType="lpstr">
      <vt:lpstr>Corbel</vt:lpstr>
      <vt:lpstr>Base</vt:lpstr>
      <vt:lpstr>Tech &amp; Learn</vt:lpstr>
      <vt:lpstr>Índice</vt:lpstr>
      <vt:lpstr>Redes, Git y Tecnologías Dominadas</vt:lpstr>
      <vt:lpstr>Redes, Git y Tecnologías Dominadas</vt:lpstr>
      <vt:lpstr>Redes, Git y Tecnologías Dominadas</vt:lpstr>
      <vt:lpstr>Redes, Git y Tecnologías Dominadas</vt:lpstr>
      <vt:lpstr>Descripción</vt:lpstr>
      <vt:lpstr>Boceto</vt:lpstr>
      <vt:lpstr>Estudio de Tiendas Online</vt:lpstr>
      <vt:lpstr>Estudio de Tiendas Online</vt:lpstr>
      <vt:lpstr>Home (Inicio)</vt:lpstr>
      <vt:lpstr>Home (Inicio)</vt:lpstr>
      <vt:lpstr>Login (Iniciar Sesión)</vt:lpstr>
      <vt:lpstr>Crear Usuario</vt:lpstr>
      <vt:lpstr>Recordar Contraseña</vt:lpstr>
      <vt:lpstr>Productos</vt:lpstr>
      <vt:lpstr>Detalles Producto</vt:lpstr>
      <vt:lpstr>Cesta</vt:lpstr>
      <vt:lpstr>Tarjetas de Pago</vt:lpstr>
      <vt:lpstr>Editar Tarjetas de Pago</vt:lpstr>
      <vt:lpstr>Finalizar Compra</vt:lpstr>
      <vt:lpstr>Tarjetas de Aprender</vt:lpstr>
      <vt:lpstr>Editar Tarjetas de Aprender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CM</dc:creator>
  <cp:lastModifiedBy>David CM</cp:lastModifiedBy>
  <cp:revision>77</cp:revision>
  <dcterms:created xsi:type="dcterms:W3CDTF">2025-12-12T09:20:53Z</dcterms:created>
  <dcterms:modified xsi:type="dcterms:W3CDTF">2026-01-09T09:38:50Z</dcterms:modified>
</cp:coreProperties>
</file>